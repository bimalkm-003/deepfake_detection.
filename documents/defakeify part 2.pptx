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9"/>
  </p:notesMasterIdLst>
  <p:handoutMasterIdLst>
    <p:handoutMasterId r:id="rId20"/>
  </p:handoutMasterIdLst>
  <p:sldIdLst>
    <p:sldId id="256" r:id="rId5"/>
    <p:sldId id="257" r:id="rId6"/>
    <p:sldId id="278" r:id="rId7"/>
    <p:sldId id="286" r:id="rId8"/>
    <p:sldId id="287" r:id="rId9"/>
    <p:sldId id="290" r:id="rId10"/>
    <p:sldId id="291" r:id="rId11"/>
    <p:sldId id="288" r:id="rId12"/>
    <p:sldId id="258" r:id="rId13"/>
    <p:sldId id="266" r:id="rId14"/>
    <p:sldId id="289" r:id="rId15"/>
    <p:sldId id="281" r:id="rId16"/>
    <p:sldId id="282" r:id="rId17"/>
    <p:sldId id="27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655" autoAdjust="0"/>
  </p:normalViewPr>
  <p:slideViewPr>
    <p:cSldViewPr snapToGrid="0">
      <p:cViewPr>
        <p:scale>
          <a:sx n="75" d="100"/>
          <a:sy n="75" d="100"/>
        </p:scale>
        <p:origin x="974" y="173"/>
      </p:cViewPr>
      <p:guideLst/>
    </p:cSldViewPr>
  </p:slideViewPr>
  <p:outlineViewPr>
    <p:cViewPr>
      <p:scale>
        <a:sx n="33" d="100"/>
        <a:sy n="33" d="100"/>
      </p:scale>
      <p:origin x="0" y="-288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03" y="29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5/10/2026</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5/10/2026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1778128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a:t>
            </a:fld>
            <a:endParaRPr lang="en-US" dirty="0"/>
          </a:p>
        </p:txBody>
      </p:sp>
    </p:spTree>
    <p:extLst>
      <p:ext uri="{BB962C8B-B14F-4D97-AF65-F5344CB8AC3E}">
        <p14:creationId xmlns:p14="http://schemas.microsoft.com/office/powerpoint/2010/main" val="4040438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3</a:t>
            </a:fld>
            <a:endParaRPr lang="en-US" dirty="0"/>
          </a:p>
        </p:txBody>
      </p:sp>
    </p:spTree>
    <p:extLst>
      <p:ext uri="{BB962C8B-B14F-4D97-AF65-F5344CB8AC3E}">
        <p14:creationId xmlns:p14="http://schemas.microsoft.com/office/powerpoint/2010/main" val="2182522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9</a:t>
            </a:fld>
            <a:endParaRPr lang="en-US" dirty="0"/>
          </a:p>
        </p:txBody>
      </p:sp>
    </p:spTree>
    <p:extLst>
      <p:ext uri="{BB962C8B-B14F-4D97-AF65-F5344CB8AC3E}">
        <p14:creationId xmlns:p14="http://schemas.microsoft.com/office/powerpoint/2010/main" val="28439544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10</a:t>
            </a:fld>
            <a:endParaRPr lang="en-US" dirty="0"/>
          </a:p>
        </p:txBody>
      </p:sp>
    </p:spTree>
    <p:extLst>
      <p:ext uri="{BB962C8B-B14F-4D97-AF65-F5344CB8AC3E}">
        <p14:creationId xmlns:p14="http://schemas.microsoft.com/office/powerpoint/2010/main" val="3105683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12</a:t>
            </a:fld>
            <a:endParaRPr lang="en-US" dirty="0"/>
          </a:p>
        </p:txBody>
      </p:sp>
    </p:spTree>
    <p:extLst>
      <p:ext uri="{BB962C8B-B14F-4D97-AF65-F5344CB8AC3E}">
        <p14:creationId xmlns:p14="http://schemas.microsoft.com/office/powerpoint/2010/main" val="10253268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13</a:t>
            </a:fld>
            <a:endParaRPr lang="en-US" dirty="0"/>
          </a:p>
        </p:txBody>
      </p:sp>
    </p:spTree>
    <p:extLst>
      <p:ext uri="{BB962C8B-B14F-4D97-AF65-F5344CB8AC3E}">
        <p14:creationId xmlns:p14="http://schemas.microsoft.com/office/powerpoint/2010/main" val="236659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14</a:t>
            </a:fld>
            <a:endParaRPr lang="en-US" dirty="0"/>
          </a:p>
        </p:txBody>
      </p:sp>
    </p:spTree>
    <p:extLst>
      <p:ext uri="{BB962C8B-B14F-4D97-AF65-F5344CB8AC3E}">
        <p14:creationId xmlns:p14="http://schemas.microsoft.com/office/powerpoint/2010/main" val="7026838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anchor="ctr">
            <a:noAutofit/>
          </a:bodyPr>
          <a:lstStyle>
            <a:lvl1pPr algn="l">
              <a:defRPr sz="3600" spc="150" baseline="0"/>
            </a:lvl1pPr>
          </a:lstStyle>
          <a:p>
            <a:r>
              <a:rPr lang="en-US" dirty="0"/>
              <a:t>CLICK TO add title</a:t>
            </a:r>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8301" r="28341" b="23071"/>
          <a:stretch/>
        </p:blipFill>
        <p:spPr>
          <a:xfrm>
            <a:off x="4229100" y="0"/>
            <a:ext cx="7962901"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hasCustomPrompt="1"/>
          </p:nvPr>
        </p:nvSpPr>
        <p:spPr>
          <a:xfrm>
            <a:off x="1333500" y="2674013"/>
            <a:ext cx="2895600" cy="3269589"/>
          </a:xfrm>
        </p:spPr>
        <p:txBody>
          <a:bodyPr>
            <a:normAutofit/>
          </a:bodyPr>
          <a:lstStyle>
            <a:lvl1pPr marL="0" indent="0">
              <a:lnSpc>
                <a:spcPct val="140000"/>
              </a:lnSpc>
              <a:spcBef>
                <a:spcPts val="1000"/>
              </a:spcBef>
              <a:buNone/>
              <a:defRPr sz="1800">
                <a:solidFill>
                  <a:schemeClr val="bg1"/>
                </a:solidFill>
              </a:defRPr>
            </a:lvl1pPr>
            <a:lvl2pPr marL="457200" indent="0">
              <a:lnSpc>
                <a:spcPct val="140000"/>
              </a:lnSpc>
              <a:spcBef>
                <a:spcPts val="1000"/>
              </a:spcBef>
              <a:buNone/>
              <a:defRPr sz="1800">
                <a:solidFill>
                  <a:schemeClr val="bg1"/>
                </a:solidFill>
              </a:defRPr>
            </a:lvl2pPr>
            <a:lvl3pPr marL="914400" indent="0">
              <a:lnSpc>
                <a:spcPct val="140000"/>
              </a:lnSpc>
              <a:spcBef>
                <a:spcPts val="1000"/>
              </a:spcBef>
              <a:buNone/>
              <a:defRPr sz="1800">
                <a:solidFill>
                  <a:schemeClr val="bg1"/>
                </a:solidFill>
              </a:defRPr>
            </a:lvl3pPr>
            <a:lvl4pPr marL="1371600" indent="0">
              <a:lnSpc>
                <a:spcPct val="140000"/>
              </a:lnSpc>
              <a:spcBef>
                <a:spcPts val="1000"/>
              </a:spcBef>
              <a:buNone/>
              <a:defRPr sz="1800">
                <a:solidFill>
                  <a:schemeClr val="bg1"/>
                </a:solidFill>
              </a:defRPr>
            </a:lvl4pPr>
            <a:lvl5pPr marL="1828800" indent="0">
              <a:lnSpc>
                <a:spcPct val="140000"/>
              </a:lnSpc>
              <a:spcBef>
                <a:spcPts val="1000"/>
              </a:spcBef>
              <a:buNone/>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anchor="b">
            <a:noAutofit/>
          </a:bodyPr>
          <a:lstStyle>
            <a:lvl1pPr algn="l">
              <a:defRPr sz="3600" spc="150" baseline="0">
                <a:solidFill>
                  <a:schemeClr val="tx1"/>
                </a:solidFill>
              </a:defRPr>
            </a:lvl1pPr>
          </a:lstStyle>
          <a:p>
            <a:r>
              <a:rPr lang="en-US" dirty="0"/>
              <a:t>CLICK TO add title</a:t>
            </a:r>
          </a:p>
        </p:txBody>
      </p:sp>
      <p:grpSp>
        <p:nvGrpSpPr>
          <p:cNvPr id="4" name="Group 3">
            <a:extLst>
              <a:ext uri="{FF2B5EF4-FFF2-40B4-BE49-F238E27FC236}">
                <a16:creationId xmlns:a16="http://schemas.microsoft.com/office/drawing/2014/main" id="{4A96E214-6A61-C8A7-B1DB-C8C260C13441}"/>
              </a:ext>
              <a:ext uri="{C183D7F6-B498-43B3-948B-1728B52AA6E4}">
                <adec:decorative xmlns:adec="http://schemas.microsoft.com/office/drawing/2017/decorative" val="1"/>
              </a:ext>
            </a:extLst>
          </p:cNvPr>
          <p:cNvGrpSpPr/>
          <p:nvPr userDrawn="1"/>
        </p:nvGrpSpPr>
        <p:grpSpPr>
          <a:xfrm>
            <a:off x="0" y="0"/>
            <a:ext cx="6557818" cy="6858000"/>
            <a:chOff x="0" y="0"/>
            <a:chExt cx="4762501" cy="5186363"/>
          </a:xfrm>
        </p:grpSpPr>
        <p:cxnSp>
          <p:nvCxnSpPr>
            <p:cNvPr id="5" name="Straight Connector 4">
              <a:extLst>
                <a:ext uri="{FF2B5EF4-FFF2-40B4-BE49-F238E27FC236}">
                  <a16:creationId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250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680"/>
            <a:ext cx="4179570" cy="3376691"/>
          </a:xfrm>
        </p:spPr>
        <p:txBody>
          <a:bodyPr anchor="b">
            <a:noAutofit/>
          </a:bodyPr>
          <a:lstStyle>
            <a:lvl1pPr algn="l">
              <a:defRPr sz="3600" spc="150" baseline="0">
                <a:solidFill>
                  <a:schemeClr val="bg1"/>
                </a:solidFill>
              </a:defRPr>
            </a:lvl1pPr>
          </a:lstStyle>
          <a:p>
            <a:r>
              <a:rPr lang="en-US" dirty="0"/>
              <a:t>CLICK TO add title</a:t>
            </a:r>
          </a:p>
        </p:txBody>
      </p:sp>
      <p:cxnSp>
        <p:nvCxnSpPr>
          <p:cNvPr id="7" name="Straight Connector 6">
            <a:extLst>
              <a:ext uri="{FF2B5EF4-FFF2-40B4-BE49-F238E27FC236}">
                <a16:creationId xmlns:a16="http://schemas.microsoft.com/office/drawing/2014/main" id="{5D8E94DD-0F7B-3F92-58EA-5F06D557BF40}"/>
              </a:ext>
              <a:ext uri="{C183D7F6-B498-43B3-948B-1728B52AA6E4}">
                <adec:decorative xmlns:adec="http://schemas.microsoft.com/office/drawing/2017/decorative" val="1"/>
              </a:ext>
            </a:extLst>
          </p:cNvPr>
          <p:cNvCxnSpPr>
            <a:cxnSpLocks/>
          </p:cNvCxnSpPr>
          <p:nvPr userDrawn="1"/>
        </p:nvCxnSpPr>
        <p:spPr>
          <a:xfrm>
            <a:off x="3990667" y="0"/>
            <a:ext cx="1126278" cy="251229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419F5397-34DB-BC88-ADF5-AA470A06FE50}"/>
              </a:ext>
            </a:extLst>
          </p:cNvPr>
          <p:cNvSpPr>
            <a:spLocks noGrp="1"/>
          </p:cNvSpPr>
          <p:nvPr>
            <p:ph type="pic" sz="quarter" idx="10"/>
          </p:nvPr>
        </p:nvSpPr>
        <p:spPr>
          <a:xfrm>
            <a:off x="0" y="-5080"/>
            <a:ext cx="6576291" cy="6872605"/>
          </a:xfrm>
          <a:custGeom>
            <a:avLst/>
            <a:gdLst>
              <a:gd name="connsiteX0" fmla="*/ 0 w 6576291"/>
              <a:gd name="connsiteY0" fmla="*/ 0 h 6867525"/>
              <a:gd name="connsiteX1" fmla="*/ 6576291 w 6576291"/>
              <a:gd name="connsiteY1" fmla="*/ 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044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 name="connsiteX0" fmla="*/ 0 w 6576291"/>
              <a:gd name="connsiteY0" fmla="*/ 0 h 6867525"/>
              <a:gd name="connsiteX1" fmla="*/ 3624811 w 6576291"/>
              <a:gd name="connsiteY1" fmla="*/ 1016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298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91" h="6872605">
                <a:moveTo>
                  <a:pt x="0" y="5080"/>
                </a:moveTo>
                <a:lnTo>
                  <a:pt x="3629891" y="0"/>
                </a:lnTo>
                <a:lnTo>
                  <a:pt x="6576291" y="6872605"/>
                </a:lnTo>
                <a:lnTo>
                  <a:pt x="0" y="6872605"/>
                </a:lnTo>
                <a:lnTo>
                  <a:pt x="0" y="5080"/>
                </a:lnTo>
                <a:close/>
              </a:path>
            </a:pathLst>
          </a:custGeom>
        </p:spPr>
        <p:txBody>
          <a:bodyPr lIns="182880" tIns="182880" bIns="91440">
            <a:normAutofit/>
          </a:bodyPr>
          <a:lstStyle>
            <a:lvl1pPr marL="0" indent="0">
              <a:buNone/>
              <a:defRPr sz="20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754018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a:normAutofit/>
          </a:bodyPr>
          <a:lstStyle>
            <a:lvl1pPr marL="0" indent="0">
              <a:lnSpc>
                <a:spcPct val="100000"/>
              </a:lnSpc>
              <a:buFont typeface="Arial" panose="020B0604020202020204" pitchFamily="34" charset="0"/>
              <a:buNone/>
              <a:defRPr sz="1800" b="1"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a:extLst>
              <a:ext uri="{FF2B5EF4-FFF2-40B4-BE49-F238E27FC236}">
                <a16:creationId xmlns:a16="http://schemas.microsoft.com/office/drawing/2014/main" id="{18E16CF1-2502-F2F0-2C27-2DD7979033E2}"/>
              </a:ext>
              <a:ext uri="{C183D7F6-B498-43B3-948B-1728B52AA6E4}">
                <adec:decorative xmlns:adec="http://schemas.microsoft.com/office/drawing/2017/decorative" val="1"/>
              </a:ext>
            </a:extLst>
          </p:cNvPr>
          <p:cNvGrpSpPr/>
          <p:nvPr userDrawn="1"/>
        </p:nvGrpSpPr>
        <p:grpSpPr>
          <a:xfrm>
            <a:off x="9096374" y="-25401"/>
            <a:ext cx="3095625" cy="6883401"/>
            <a:chOff x="9096375" y="-25401"/>
            <a:chExt cx="3095625" cy="6883401"/>
          </a:xfrm>
        </p:grpSpPr>
        <p:cxnSp>
          <p:nvCxnSpPr>
            <p:cNvPr id="10" name="Straight Connector 9">
              <a:extLst>
                <a:ext uri="{FF2B5EF4-FFF2-40B4-BE49-F238E27FC236}">
                  <a16:creationId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34E84FEE-D475-A71D-7996-5925602ECF9A}"/>
              </a:ext>
              <a:ext uri="{C183D7F6-B498-43B3-948B-1728B52AA6E4}">
                <adec:decorative xmlns:adec="http://schemas.microsoft.com/office/drawing/2017/decorative" val="1"/>
              </a:ext>
            </a:extLst>
          </p:cNvPr>
          <p:cNvCxnSpPr>
            <a:cxnSpLocks/>
          </p:cNvCxnSpPr>
          <p:nvPr userDrawn="1"/>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7459776D-4049-CB00-C321-0627C169BC51}"/>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16" name="Slide Number Placeholder 5">
            <a:extLst>
              <a:ext uri="{FF2B5EF4-FFF2-40B4-BE49-F238E27FC236}">
                <a16:creationId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424973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06400"/>
            <a:ext cx="4179570" cy="3457971"/>
          </a:xfrm>
        </p:spPr>
        <p:txBody>
          <a:bodyPr anchor="b">
            <a:noAutofit/>
          </a:bodyPr>
          <a:lstStyle>
            <a:lvl1pPr algn="l">
              <a:defRPr sz="3600" spc="150" baseline="0">
                <a:solidFill>
                  <a:schemeClr val="bg1"/>
                </a:solidFill>
              </a:defRPr>
            </a:lvl1pPr>
          </a:lstStyle>
          <a:p>
            <a:r>
              <a:rPr lang="en-US" dirty="0"/>
              <a:t>CLICK TO add title</a:t>
            </a:r>
          </a:p>
        </p:txBody>
      </p:sp>
      <p:pic>
        <p:nvPicPr>
          <p:cNvPr id="4" name="Graphic 3">
            <a:extLst>
              <a:ext uri="{FF2B5EF4-FFF2-40B4-BE49-F238E27FC236}">
                <a16:creationId xmlns:a16="http://schemas.microsoft.com/office/drawing/2014/main" id="{5E045004-3604-59DC-13E0-7A0B2DF78C4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44032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accent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955F7B05-9431-1FBA-415D-6CF2DF562B97}"/>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434" t="20278" b="22673"/>
          <a:stretch/>
        </p:blipFill>
        <p:spPr>
          <a:xfrm>
            <a:off x="25785" y="0"/>
            <a:ext cx="4093633"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9" name="Content Placeholder 3">
            <a:extLst>
              <a:ext uri="{FF2B5EF4-FFF2-40B4-BE49-F238E27FC236}">
                <a16:creationId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5F41582C-9AD2-F126-40F3-D43E77D158C8}"/>
              </a:ext>
            </a:extLst>
          </p:cNvPr>
          <p:cNvSpPr>
            <a:spLocks noGrp="1"/>
          </p:cNvSpPr>
          <p:nvPr>
            <p:ph type="ftr" sz="quarter" idx="11"/>
          </p:nvPr>
        </p:nvSpPr>
        <p:spPr>
          <a:xfrm>
            <a:off x="2969260" y="6356349"/>
            <a:ext cx="3819228" cy="365125"/>
          </a:xfrm>
        </p:spPr>
        <p:txBody>
          <a:bodyPr/>
          <a:lstStyle>
            <a:lvl1pPr algn="l">
              <a:defRPr sz="900"/>
            </a:lvl1pPr>
          </a:lstStyle>
          <a:p>
            <a:r>
              <a:rPr lang="en-US" dirty="0"/>
              <a:t>PRESENTATION TITLE</a:t>
            </a:r>
          </a:p>
        </p:txBody>
      </p:sp>
      <p:sp>
        <p:nvSpPr>
          <p:cNvPr id="14" name="Slide Number Placeholder 5">
            <a:extLst>
              <a:ext uri="{FF2B5EF4-FFF2-40B4-BE49-F238E27FC236}">
                <a16:creationId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401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341120" y="558801"/>
            <a:ext cx="9953308"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grpSp>
        <p:nvGrpSpPr>
          <p:cNvPr id="10" name="Group 9">
            <a:extLst>
              <a:ext uri="{FF2B5EF4-FFF2-40B4-BE49-F238E27FC236}">
                <a16:creationId xmlns:a16="http://schemas.microsoft.com/office/drawing/2014/main" id="{6A217F83-0BDB-C70B-29FE-2651DE191533}"/>
              </a:ext>
              <a:ext uri="{C183D7F6-B498-43B3-948B-1728B52AA6E4}">
                <adec:decorative xmlns:adec="http://schemas.microsoft.com/office/drawing/2017/decorative" val="1"/>
              </a:ext>
            </a:extLst>
          </p:cNvPr>
          <p:cNvGrpSpPr/>
          <p:nvPr userDrawn="1"/>
        </p:nvGrpSpPr>
        <p:grpSpPr>
          <a:xfrm>
            <a:off x="4429817" y="0"/>
            <a:ext cx="7762183" cy="2754814"/>
            <a:chOff x="7334250" y="0"/>
            <a:chExt cx="4857750" cy="1724025"/>
          </a:xfrm>
        </p:grpSpPr>
        <p:cxnSp>
          <p:nvCxnSpPr>
            <p:cNvPr id="11" name="Straight Connector 10">
              <a:extLst>
                <a:ext uri="{FF2B5EF4-FFF2-40B4-BE49-F238E27FC236}">
                  <a16:creationId xmlns:a16="http://schemas.microsoft.com/office/drawing/2014/main" id="{E0C62368-3F79-C078-7086-B23D2F5A09F8}"/>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9BDD71-BF2E-BDB0-A625-D8371AEA1CAB}"/>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 Placeholder 2">
            <a:extLst>
              <a:ext uri="{FF2B5EF4-FFF2-40B4-BE49-F238E27FC236}">
                <a16:creationId xmlns:a16="http://schemas.microsoft.com/office/drawing/2014/main" id="{83354B96-CD25-BE1C-8CA2-3825F820B759}"/>
              </a:ext>
            </a:extLst>
          </p:cNvPr>
          <p:cNvSpPr>
            <a:spLocks noGrp="1"/>
          </p:cNvSpPr>
          <p:nvPr>
            <p:ph type="body" idx="1" hasCustomPrompt="1"/>
          </p:nvPr>
        </p:nvSpPr>
        <p:spPr>
          <a:xfrm>
            <a:off x="1341120" y="2960877"/>
            <a:ext cx="2722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5" name="Content Placeholder 3">
            <a:extLst>
              <a:ext uri="{FF2B5EF4-FFF2-40B4-BE49-F238E27FC236}">
                <a16:creationId xmlns:a16="http://schemas.microsoft.com/office/drawing/2014/main" id="{CDD81865-54C7-7674-4B2E-041D05C1D146}"/>
              </a:ext>
            </a:extLst>
          </p:cNvPr>
          <p:cNvSpPr>
            <a:spLocks noGrp="1"/>
          </p:cNvSpPr>
          <p:nvPr>
            <p:ph sz="half" idx="15" hasCustomPrompt="1"/>
          </p:nvPr>
        </p:nvSpPr>
        <p:spPr>
          <a:xfrm>
            <a:off x="1341120" y="3392035"/>
            <a:ext cx="2722880" cy="2907164"/>
          </a:xfrm>
        </p:spPr>
        <p:txBody>
          <a:bodyPr tIns="0">
            <a:normAutofit/>
          </a:bodyPr>
          <a:lstStyle>
            <a:lvl1pPr marL="283464" indent="-283464">
              <a:lnSpc>
                <a:spcPct val="100000"/>
              </a:lnSpc>
              <a:buFont typeface="+mj-lt"/>
              <a:buAutoNum type="arabicPeriod"/>
              <a:defRPr sz="1800" b="0" spc="50" baseline="0"/>
            </a:lvl1pPr>
            <a:lvl2pPr marL="566928" indent="-342900">
              <a:lnSpc>
                <a:spcPct val="100000"/>
              </a:lnSpc>
              <a:spcBef>
                <a:spcPts val="1000"/>
              </a:spcBef>
              <a:buFont typeface="+mj-lt"/>
              <a:buAutoNum type="alphaLcPeriod"/>
              <a:defRPr sz="1800" spc="50" baseline="0"/>
            </a:lvl2pPr>
            <a:lvl3pPr marL="850392" indent="-342900">
              <a:lnSpc>
                <a:spcPct val="100000"/>
              </a:lnSpc>
              <a:spcBef>
                <a:spcPts val="1000"/>
              </a:spcBef>
              <a:buFont typeface="+mj-lt"/>
              <a:buAutoNum type="arabicParenR"/>
              <a:defRPr sz="1800" spc="50" baseline="0"/>
            </a:lvl3pPr>
            <a:lvl4pPr marL="1042416" indent="-342900">
              <a:lnSpc>
                <a:spcPct val="100000"/>
              </a:lnSpc>
              <a:spcBef>
                <a:spcPts val="1000"/>
              </a:spcBef>
              <a:buFont typeface="+mj-lt"/>
              <a:buAutoNum type="alphaLcParenR"/>
              <a:defRPr sz="1800" spc="50" baseline="0"/>
            </a:lvl4pPr>
            <a:lvl5pPr marL="1074420" indent="-400050">
              <a:lnSpc>
                <a:spcPct val="100000"/>
              </a:lnSpc>
              <a:spcBef>
                <a:spcPts val="1000"/>
              </a:spcBef>
              <a:buFont typeface="+mj-lt"/>
              <a:buAutoNum type="romanLcPeriod"/>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7" name="Text Placeholder 2">
            <a:extLst>
              <a:ext uri="{FF2B5EF4-FFF2-40B4-BE49-F238E27FC236}">
                <a16:creationId xmlns:a16="http://schemas.microsoft.com/office/drawing/2014/main" id="{6F39BA57-7F1C-623F-BC7F-B689C5AC33EA}"/>
              </a:ext>
            </a:extLst>
          </p:cNvPr>
          <p:cNvSpPr>
            <a:spLocks noGrp="1"/>
          </p:cNvSpPr>
          <p:nvPr>
            <p:ph type="body" idx="10" hasCustomPrompt="1"/>
          </p:nvPr>
        </p:nvSpPr>
        <p:spPr>
          <a:xfrm>
            <a:off x="4754881" y="2960877"/>
            <a:ext cx="5516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3" name="Content Placeholder 3">
            <a:extLst>
              <a:ext uri="{FF2B5EF4-FFF2-40B4-BE49-F238E27FC236}">
                <a16:creationId xmlns:a16="http://schemas.microsoft.com/office/drawing/2014/main" id="{94BF07A4-5A33-0B3C-A378-AB2435F1D5FF}"/>
              </a:ext>
            </a:extLst>
          </p:cNvPr>
          <p:cNvSpPr>
            <a:spLocks noGrp="1"/>
          </p:cNvSpPr>
          <p:nvPr>
            <p:ph sz="half" idx="14" hasCustomPrompt="1"/>
          </p:nvPr>
        </p:nvSpPr>
        <p:spPr>
          <a:xfrm>
            <a:off x="4754881" y="3324859"/>
            <a:ext cx="5506720" cy="303148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er Placeholder 4">
            <a:extLst>
              <a:ext uri="{FF2B5EF4-FFF2-40B4-BE49-F238E27FC236}">
                <a16:creationId xmlns:a16="http://schemas.microsoft.com/office/drawing/2014/main" id="{63DC63A6-41FE-6C2D-9A53-0AE4A6DBF39B}"/>
              </a:ext>
            </a:extLst>
          </p:cNvPr>
          <p:cNvSpPr>
            <a:spLocks noGrp="1"/>
          </p:cNvSpPr>
          <p:nvPr>
            <p:ph type="ftr" sz="quarter" idx="12"/>
          </p:nvPr>
        </p:nvSpPr>
        <p:spPr>
          <a:xfrm>
            <a:off x="1333500" y="6356349"/>
            <a:ext cx="3819228" cy="365125"/>
          </a:xfrm>
        </p:spPr>
        <p:txBody>
          <a:bodyPr/>
          <a:lstStyle>
            <a:lvl1pPr algn="l">
              <a:defRPr sz="900"/>
            </a:lvl1pPr>
          </a:lstStyle>
          <a:p>
            <a:r>
              <a:rPr lang="en-US" dirty="0"/>
              <a:t>PRESENTATION TITLE</a:t>
            </a:r>
          </a:p>
        </p:txBody>
      </p:sp>
      <p:sp>
        <p:nvSpPr>
          <p:cNvPr id="20" name="Slide Number Placeholder 5">
            <a:extLst>
              <a:ext uri="{FF2B5EF4-FFF2-40B4-BE49-F238E27FC236}">
                <a16:creationId xmlns:a16="http://schemas.microsoft.com/office/drawing/2014/main" id="{0B5130EC-B05B-5489-FBEC-DBEB6D1E737D}"/>
              </a:ext>
            </a:extLst>
          </p:cNvPr>
          <p:cNvSpPr>
            <a:spLocks noGrp="1"/>
          </p:cNvSpPr>
          <p:nvPr>
            <p:ph type="sldNum" sz="quarter" idx="13"/>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112085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B2CC92D-F90A-CB67-4860-D6939AC29566}"/>
              </a:ext>
              <a:ext uri="{C183D7F6-B498-43B3-948B-1728B52AA6E4}">
                <adec:decorative xmlns:adec="http://schemas.microsoft.com/office/drawing/2017/decorative" val="1"/>
              </a:ext>
            </a:extLst>
          </p:cNvPr>
          <p:cNvCxnSpPr>
            <a:cxnSpLocks/>
          </p:cNvCxnSpPr>
          <p:nvPr userDrawn="1"/>
        </p:nvCxnSpPr>
        <p:spPr>
          <a:xfrm flipH="1" flipV="1">
            <a:off x="3094182" y="0"/>
            <a:ext cx="1745673" cy="38977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4" y="1671639"/>
            <a:ext cx="5884027"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13" name="Picture Placeholder 12">
            <a:extLst>
              <a:ext uri="{FF2B5EF4-FFF2-40B4-BE49-F238E27FC236}">
                <a16:creationId xmlns:a16="http://schemas.microsoft.com/office/drawing/2014/main" id="{4C376638-5C5B-8E5B-0C26-8F63B98EA417}"/>
              </a:ext>
            </a:extLst>
          </p:cNvPr>
          <p:cNvSpPr>
            <a:spLocks noGrp="1"/>
          </p:cNvSpPr>
          <p:nvPr>
            <p:ph type="pic" sz="quarter" idx="13"/>
          </p:nvPr>
        </p:nvSpPr>
        <p:spPr>
          <a:xfrm>
            <a:off x="-28230" y="-9144"/>
            <a:ext cx="5481955" cy="6876288"/>
          </a:xfrm>
          <a:custGeom>
            <a:avLst/>
            <a:gdLst>
              <a:gd name="connsiteX0" fmla="*/ 0 w 5476875"/>
              <a:gd name="connsiteY0" fmla="*/ 0 h 6858000"/>
              <a:gd name="connsiteX1" fmla="*/ 547687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0 w 5476875"/>
              <a:gd name="connsiteY0" fmla="*/ 0 h 6858000"/>
              <a:gd name="connsiteX1" fmla="*/ 252031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5080 w 5481955"/>
              <a:gd name="connsiteY0" fmla="*/ 0 h 6858000"/>
              <a:gd name="connsiteX1" fmla="*/ 2525395 w 5481955"/>
              <a:gd name="connsiteY1" fmla="*/ 0 h 6858000"/>
              <a:gd name="connsiteX2" fmla="*/ 5481955 w 5481955"/>
              <a:gd name="connsiteY2" fmla="*/ 6858000 h 6858000"/>
              <a:gd name="connsiteX3" fmla="*/ 5080 w 5481955"/>
              <a:gd name="connsiteY3" fmla="*/ 6858000 h 6858000"/>
              <a:gd name="connsiteX4" fmla="*/ 0 w 5481955"/>
              <a:gd name="connsiteY4" fmla="*/ 4805680 h 6858000"/>
              <a:gd name="connsiteX5" fmla="*/ 5080 w 5481955"/>
              <a:gd name="connsiteY5" fmla="*/ 0 h 685800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1955" h="6863080">
                <a:moveTo>
                  <a:pt x="5080" y="0"/>
                </a:moveTo>
                <a:lnTo>
                  <a:pt x="2525395" y="0"/>
                </a:lnTo>
                <a:lnTo>
                  <a:pt x="5481955" y="6858000"/>
                </a:lnTo>
                <a:lnTo>
                  <a:pt x="899160" y="6863080"/>
                </a:lnTo>
                <a:cubicBezTo>
                  <a:pt x="506307" y="5933440"/>
                  <a:pt x="413173" y="5720080"/>
                  <a:pt x="0" y="4759960"/>
                </a:cubicBezTo>
                <a:cubicBezTo>
                  <a:pt x="1693" y="3158067"/>
                  <a:pt x="3387" y="1601893"/>
                  <a:pt x="5080" y="0"/>
                </a:cubicBezTo>
                <a:close/>
              </a:path>
            </a:pathLst>
          </a:custGeom>
        </p:spPr>
        <p:txBody>
          <a:bodyPr lIns="274320" tIns="91440" bIns="91440">
            <a:normAutofit/>
          </a:bodyPr>
          <a:lstStyle>
            <a:lvl1pPr marL="0" indent="0" algn="l">
              <a:buNone/>
              <a:defRPr sz="2000">
                <a:solidFill>
                  <a:schemeClr val="tx1"/>
                </a:solidFill>
              </a:defRPr>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04569D00-2037-2A8D-943B-22FAC1C0B690}"/>
              </a:ext>
            </a:extLst>
          </p:cNvPr>
          <p:cNvSpPr>
            <a:spLocks noGrp="1"/>
          </p:cNvSpPr>
          <p:nvPr>
            <p:ph type="ftr" sz="quarter" idx="11"/>
          </p:nvPr>
        </p:nvSpPr>
        <p:spPr>
          <a:xfrm>
            <a:off x="825500" y="6356349"/>
            <a:ext cx="3819228" cy="365125"/>
          </a:xfrm>
        </p:spPr>
        <p:txBody>
          <a:bodyPr/>
          <a:lstStyle>
            <a:lvl1pPr algn="l">
              <a:defRPr sz="900"/>
            </a:lvl1pPr>
          </a:lstStyle>
          <a:p>
            <a:r>
              <a:rPr lang="en-US" dirty="0"/>
              <a:t>PRESENTATION TITLE</a:t>
            </a:r>
          </a:p>
        </p:txBody>
      </p:sp>
      <p:sp>
        <p:nvSpPr>
          <p:cNvPr id="5" name="Slide Number Placeholder 5">
            <a:extLst>
              <a:ext uri="{FF2B5EF4-FFF2-40B4-BE49-F238E27FC236}">
                <a16:creationId xmlns:a16="http://schemas.microsoft.com/office/drawing/2014/main" id="{75967A9D-0B53-4F3F-0872-495C23A3323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
        <p:nvSpPr>
          <p:cNvPr id="8" name="Content Placeholder 3">
            <a:extLst>
              <a:ext uri="{FF2B5EF4-FFF2-40B4-BE49-F238E27FC236}">
                <a16:creationId xmlns:a16="http://schemas.microsoft.com/office/drawing/2014/main" id="{643B0E9A-A777-8745-6A36-0A79CB5E036B}"/>
              </a:ext>
            </a:extLst>
          </p:cNvPr>
          <p:cNvSpPr>
            <a:spLocks noGrp="1"/>
          </p:cNvSpPr>
          <p:nvPr>
            <p:ph sz="half" idx="14" hasCustomPrompt="1"/>
          </p:nvPr>
        </p:nvSpPr>
        <p:spPr>
          <a:xfrm>
            <a:off x="5453725" y="3660774"/>
            <a:ext cx="5907176" cy="2536826"/>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1" y="895350"/>
            <a:ext cx="3247662" cy="1917700"/>
          </a:xfrm>
        </p:spPr>
        <p:txBody>
          <a:bodyPr>
            <a:normAutofit/>
          </a:bodyPr>
          <a:lstStyle>
            <a:lvl1pPr algn="l">
              <a:defRPr lang="en-US" sz="24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A14C3057-3BCC-F9A2-98D8-17DDB36F1823}"/>
              </a:ext>
            </a:extLst>
          </p:cNvPr>
          <p:cNvSpPr>
            <a:spLocks noGrp="1"/>
          </p:cNvSpPr>
          <p:nvPr>
            <p:ph sz="half" idx="16" hasCustomPrompt="1"/>
          </p:nvPr>
        </p:nvSpPr>
        <p:spPr>
          <a:xfrm>
            <a:off x="838200" y="2813049"/>
            <a:ext cx="3247662" cy="323849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4216396" y="895927"/>
            <a:ext cx="7137404" cy="5115889"/>
          </a:xfrm>
        </p:spPr>
        <p:txBody>
          <a:bodyPr>
            <a:normAutofit/>
          </a:bodyPr>
          <a:lstStyle>
            <a:lvl1pPr marL="0" indent="0" algn="ctr">
              <a:buNone/>
              <a:defRPr sz="2000"/>
            </a:lvl1pPr>
          </a:lstStyle>
          <a:p>
            <a:r>
              <a:rPr lang="en-US"/>
              <a:t>Click icon to add table</a:t>
            </a:r>
            <a:endParaRPr lang="en-US" dirty="0"/>
          </a:p>
        </p:txBody>
      </p:sp>
      <p:sp>
        <p:nvSpPr>
          <p:cNvPr id="10" name="Footer Placeholder 4">
            <a:extLst>
              <a:ext uri="{FF2B5EF4-FFF2-40B4-BE49-F238E27FC236}">
                <a16:creationId xmlns:a16="http://schemas.microsoft.com/office/drawing/2014/main" id="{5F91997C-538B-C8B9-14D7-31A1932F69C3}"/>
              </a:ext>
            </a:extLst>
          </p:cNvPr>
          <p:cNvSpPr>
            <a:spLocks noGrp="1"/>
          </p:cNvSpPr>
          <p:nvPr>
            <p:ph type="ftr" sz="quarter" idx="11"/>
          </p:nvPr>
        </p:nvSpPr>
        <p:spPr>
          <a:xfrm>
            <a:off x="731615" y="6356349"/>
            <a:ext cx="3819228" cy="365125"/>
          </a:xfrm>
        </p:spPr>
        <p:txBody>
          <a:bodyPr/>
          <a:lstStyle>
            <a:lvl1pPr algn="l">
              <a:defRPr sz="900"/>
            </a:lvl1pPr>
          </a:lstStyle>
          <a:p>
            <a:r>
              <a:rPr lang="en-US" dirty="0"/>
              <a:t>PRESENTATION TITLE</a:t>
            </a:r>
          </a:p>
        </p:txBody>
      </p:sp>
      <p:sp>
        <p:nvSpPr>
          <p:cNvPr id="11" name="Slide Number Placeholder 5">
            <a:extLst>
              <a:ext uri="{FF2B5EF4-FFF2-40B4-BE49-F238E27FC236}">
                <a16:creationId xmlns:a16="http://schemas.microsoft.com/office/drawing/2014/main" id="{1F777EF4-982E-9337-7E82-31DC723C1273}"/>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grpSp>
        <p:nvGrpSpPr>
          <p:cNvPr id="14" name="Group 13">
            <a:extLst>
              <a:ext uri="{FF2B5EF4-FFF2-40B4-BE49-F238E27FC236}">
                <a16:creationId xmlns:a16="http://schemas.microsoft.com/office/drawing/2014/main" id="{E34303BA-AFB6-0E22-486F-785994E3B7B1}"/>
              </a:ext>
              <a:ext uri="{C183D7F6-B498-43B3-948B-1728B52AA6E4}">
                <adec:decorative xmlns:adec="http://schemas.microsoft.com/office/drawing/2017/decorative" val="1"/>
              </a:ext>
            </a:extLst>
          </p:cNvPr>
          <p:cNvGrpSpPr/>
          <p:nvPr userDrawn="1"/>
        </p:nvGrpSpPr>
        <p:grpSpPr>
          <a:xfrm>
            <a:off x="0" y="0"/>
            <a:ext cx="2327564" cy="1505528"/>
            <a:chOff x="0" y="0"/>
            <a:chExt cx="2238376" cy="3105150"/>
          </a:xfrm>
        </p:grpSpPr>
        <p:cxnSp>
          <p:nvCxnSpPr>
            <p:cNvPr id="15" name="Straight Connector 14">
              <a:extLst>
                <a:ext uri="{FF2B5EF4-FFF2-40B4-BE49-F238E27FC236}">
                  <a16:creationId xmlns:a16="http://schemas.microsoft.com/office/drawing/2014/main" id="{F66E3A08-02EB-7B54-5089-E7A7F19FD725}"/>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14F9BE5-00B2-ADDF-771C-AB098B36C820}"/>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80816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3" name="Graphic 12">
            <a:extLst>
              <a:ext uri="{FF2B5EF4-FFF2-40B4-BE49-F238E27FC236}">
                <a16:creationId xmlns:a16="http://schemas.microsoft.com/office/drawing/2014/main" id="{E0588715-35AD-8BE1-A5FC-E28BDD3854A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44E9C70-0200-3C21-7766-CB9EA5FBFA88}"/>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1" name="Straight Connector 10">
              <a:extLst>
                <a:ext uri="{FF2B5EF4-FFF2-40B4-BE49-F238E27FC236}">
                  <a16:creationId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anchor="b">
            <a:normAutofit/>
          </a:bodyPr>
          <a:lstStyle>
            <a:lvl1pPr algn="ctr">
              <a:defRPr lang="en-US" sz="2800" kern="1200" spc="150" baseline="0" dirty="0">
                <a:solidFill>
                  <a:schemeClr val="tx1"/>
                </a:solidFill>
                <a:latin typeface="+mj-lt"/>
                <a:ea typeface="+mj-ea"/>
                <a:cs typeface="+mj-cs"/>
              </a:defRPr>
            </a:lvl1pPr>
          </a:lstStyle>
          <a:p>
            <a:r>
              <a:rPr lang="en-US" dirty="0"/>
              <a:t>CLICK TO add title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570963"/>
          </a:xfrm>
        </p:spPr>
        <p:txBody>
          <a:bodyPr>
            <a:normAutofit/>
          </a:bodyPr>
          <a:lstStyle>
            <a:lvl1pPr marL="0" indent="0" algn="ctr">
              <a:buNone/>
              <a:defRPr sz="2000"/>
            </a:lvl1pPr>
          </a:lstStyle>
          <a:p>
            <a:r>
              <a:rPr lang="en-US"/>
              <a:t>Click icon to add table</a:t>
            </a:r>
            <a:endParaRPr lang="en-US" dirty="0"/>
          </a:p>
        </p:txBody>
      </p:sp>
      <p:sp>
        <p:nvSpPr>
          <p:cNvPr id="6" name="Footer Placeholder 4">
            <a:extLst>
              <a:ext uri="{FF2B5EF4-FFF2-40B4-BE49-F238E27FC236}">
                <a16:creationId xmlns:a16="http://schemas.microsoft.com/office/drawing/2014/main" id="{BFB554B2-4C33-2975-9F27-94B8AE71DF13}"/>
              </a:ext>
            </a:extLst>
          </p:cNvPr>
          <p:cNvSpPr>
            <a:spLocks noGrp="1"/>
          </p:cNvSpPr>
          <p:nvPr>
            <p:ph type="ftr" sz="quarter" idx="11"/>
          </p:nvPr>
        </p:nvSpPr>
        <p:spPr>
          <a:xfrm>
            <a:off x="838200" y="6356349"/>
            <a:ext cx="3819228" cy="365125"/>
          </a:xfrm>
        </p:spPr>
        <p:txBody>
          <a:bodyPr/>
          <a:lstStyle>
            <a:lvl1pPr algn="l">
              <a:defRPr sz="900"/>
            </a:lvl1pPr>
          </a:lstStyle>
          <a:p>
            <a:r>
              <a:rPr lang="en-US" dirty="0"/>
              <a:t>PRESENTATION TITLE</a:t>
            </a:r>
          </a:p>
        </p:txBody>
      </p:sp>
      <p:sp>
        <p:nvSpPr>
          <p:cNvPr id="7" name="Slide Number Placeholder 5">
            <a:extLst>
              <a:ext uri="{FF2B5EF4-FFF2-40B4-BE49-F238E27FC236}">
                <a16:creationId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850181"/>
          </a:xfrm>
        </p:spPr>
        <p:txBody>
          <a:bodyPr>
            <a:normAutofit/>
          </a:bodyPr>
          <a:lstStyle>
            <a:lvl1pPr marL="0" indent="0" algn="l">
              <a:lnSpc>
                <a:spcPct val="150000"/>
              </a:lnSpc>
              <a:buNone/>
              <a:defRPr sz="18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pic>
        <p:nvPicPr>
          <p:cNvPr id="6" name="Graphic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3176938" cy="6858000"/>
          </a:xfrm>
          <a:prstGeom prst="rect">
            <a:avLst/>
          </a:prstGeom>
        </p:spPr>
      </p:pic>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4267200" y="6356350"/>
            <a:ext cx="4179570" cy="365125"/>
          </a:xfrm>
        </p:spPr>
        <p:txBody>
          <a:bodyPr/>
          <a:lstStyle>
            <a:lvl1pPr algn="l">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9" r:id="rId3"/>
    <p:sldLayoutId id="2147483670" r:id="rId4"/>
    <p:sldLayoutId id="2147483651" r:id="rId5"/>
    <p:sldLayoutId id="2147483671" r:id="rId6"/>
    <p:sldLayoutId id="2147483672" r:id="rId7"/>
    <p:sldLayoutId id="2147483673" r:id="rId8"/>
    <p:sldLayoutId id="2147483664" r:id="rId9"/>
    <p:sldLayoutId id="2147483674" r:id="rId10"/>
    <p:sldLayoutId id="2147483653" r:id="rId11"/>
    <p:sldLayoutId id="2147483667" r:id="rId12"/>
    <p:sldLayoutId id="2147483665" r:id="rId13"/>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a:xfrm>
            <a:off x="6441918" y="3329790"/>
            <a:ext cx="4941771" cy="3200400"/>
          </a:xfrm>
        </p:spPr>
        <p:txBody>
          <a:bodyPr anchor="ctr"/>
          <a:lstStyle/>
          <a:p>
            <a:r>
              <a:rPr lang="en-US" dirty="0" err="1"/>
              <a:t>dEepfake</a:t>
            </a:r>
            <a:r>
              <a:rPr lang="en-US" dirty="0"/>
              <a:t> detection </a:t>
            </a:r>
          </a:p>
        </p:txBody>
      </p:sp>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F5859-10C9-4588-9727-B9362E26C29D}"/>
              </a:ext>
            </a:extLst>
          </p:cNvPr>
          <p:cNvSpPr>
            <a:spLocks noGrp="1"/>
          </p:cNvSpPr>
          <p:nvPr>
            <p:ph type="title"/>
          </p:nvPr>
        </p:nvSpPr>
        <p:spPr>
          <a:xfrm>
            <a:off x="1059180" y="1203325"/>
            <a:ext cx="2895600" cy="1325563"/>
          </a:xfrm>
        </p:spPr>
        <p:txBody>
          <a:bodyPr/>
          <a:lstStyle/>
          <a:p>
            <a:r>
              <a:rPr lang="en-US" dirty="0"/>
              <a:t>AGENDA</a:t>
            </a:r>
          </a:p>
        </p:txBody>
      </p:sp>
      <p:sp>
        <p:nvSpPr>
          <p:cNvPr id="3" name="Content Placeholder 2">
            <a:extLst>
              <a:ext uri="{FF2B5EF4-FFF2-40B4-BE49-F238E27FC236}">
                <a16:creationId xmlns:a16="http://schemas.microsoft.com/office/drawing/2014/main" id="{5671D7E5-EF66-4BCD-8DAA-E9061157F0BE}"/>
              </a:ext>
            </a:extLst>
          </p:cNvPr>
          <p:cNvSpPr>
            <a:spLocks noGrp="1"/>
          </p:cNvSpPr>
          <p:nvPr>
            <p:ph idx="1"/>
          </p:nvPr>
        </p:nvSpPr>
        <p:spPr>
          <a:xfrm>
            <a:off x="1333500" y="2674013"/>
            <a:ext cx="4030980" cy="4183987"/>
          </a:xfrm>
        </p:spPr>
        <p:txBody>
          <a:bodyPr>
            <a:noAutofit/>
          </a:bodyPr>
          <a:lstStyle/>
          <a:p>
            <a:r>
              <a:rPr lang="en-US" sz="1600" dirty="0"/>
              <a:t>Literature Review</a:t>
            </a:r>
          </a:p>
          <a:p>
            <a:r>
              <a:rPr lang="en-US" sz="1600" dirty="0"/>
              <a:t>Domains Involved in the project</a:t>
            </a:r>
          </a:p>
          <a:p>
            <a:r>
              <a:rPr lang="en-US" sz="1600" dirty="0"/>
              <a:t>Datasets involved in the project</a:t>
            </a:r>
          </a:p>
          <a:p>
            <a:r>
              <a:rPr lang="en-US" sz="1600" dirty="0"/>
              <a:t>Gap identification</a:t>
            </a:r>
          </a:p>
          <a:p>
            <a:r>
              <a:rPr lang="en-US" sz="1600" dirty="0"/>
              <a:t>Stimulation Study</a:t>
            </a:r>
          </a:p>
          <a:p>
            <a:r>
              <a:rPr lang="en-US" sz="1600" dirty="0"/>
              <a:t>Future Development</a:t>
            </a:r>
          </a:p>
          <a:p>
            <a:r>
              <a:rPr lang="en-US" sz="1600" dirty="0"/>
              <a:t>Research Paper And References</a:t>
            </a:r>
          </a:p>
        </p:txBody>
      </p:sp>
      <p:sp>
        <p:nvSpPr>
          <p:cNvPr id="5" name="Slide Number Placeholder 5">
            <a:extLst>
              <a:ext uri="{FF2B5EF4-FFF2-40B4-BE49-F238E27FC236}">
                <a16:creationId xmlns:a16="http://schemas.microsoft.com/office/drawing/2014/main" id="{B02A8827-B1A1-2D2F-D6DD-E886B886C43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2</a:t>
            </a:fld>
            <a:endParaRPr lang="en-US" dirty="0"/>
          </a:p>
        </p:txBody>
      </p:sp>
    </p:spTree>
    <p:extLst>
      <p:ext uri="{BB962C8B-B14F-4D97-AF65-F5344CB8AC3E}">
        <p14:creationId xmlns:p14="http://schemas.microsoft.com/office/powerpoint/2010/main" val="1713219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8DBD1-DB29-D44F-FD5A-3071BB37EF37}"/>
              </a:ext>
            </a:extLst>
          </p:cNvPr>
          <p:cNvSpPr>
            <a:spLocks noGrp="1"/>
          </p:cNvSpPr>
          <p:nvPr>
            <p:ph type="ctrTitle"/>
          </p:nvPr>
        </p:nvSpPr>
        <p:spPr>
          <a:xfrm>
            <a:off x="209549" y="163168"/>
            <a:ext cx="4791075" cy="675032"/>
          </a:xfrm>
        </p:spPr>
        <p:txBody>
          <a:bodyPr/>
          <a:lstStyle/>
          <a:p>
            <a:r>
              <a:rPr lang="en-US" dirty="0"/>
              <a:t>LITERATURE REVIEW</a:t>
            </a:r>
          </a:p>
        </p:txBody>
      </p:sp>
      <p:sp>
        <p:nvSpPr>
          <p:cNvPr id="4" name="TextBox 3">
            <a:extLst>
              <a:ext uri="{FF2B5EF4-FFF2-40B4-BE49-F238E27FC236}">
                <a16:creationId xmlns:a16="http://schemas.microsoft.com/office/drawing/2014/main" id="{5D7416E1-6D96-F033-BC9F-524F3DB62E59}"/>
              </a:ext>
            </a:extLst>
          </p:cNvPr>
          <p:cNvSpPr txBox="1"/>
          <p:nvPr/>
        </p:nvSpPr>
        <p:spPr>
          <a:xfrm>
            <a:off x="209549" y="1690062"/>
            <a:ext cx="5572126" cy="3754874"/>
          </a:xfrm>
          <a:prstGeom prst="rect">
            <a:avLst/>
          </a:prstGeom>
          <a:noFill/>
        </p:spPr>
        <p:txBody>
          <a:bodyPr wrap="square">
            <a:spAutoFit/>
          </a:bodyPr>
          <a:lstStyle/>
          <a:p>
            <a:r>
              <a:rPr lang="en-IN" sz="2000" b="1" u="sng" dirty="0"/>
              <a:t>Paper1(</a:t>
            </a:r>
            <a:r>
              <a:rPr lang="en-US" sz="2000" b="1" dirty="0"/>
              <a:t>DF40: Toward Next-Generation Deepfake Detection):</a:t>
            </a:r>
          </a:p>
          <a:p>
            <a:endParaRPr lang="en-US" sz="1800" dirty="0"/>
          </a:p>
          <a:p>
            <a:pPr>
              <a:buFont typeface="Arial" panose="020B0604020202020204" pitchFamily="34" charset="0"/>
              <a:buChar char="•"/>
            </a:pPr>
            <a:r>
              <a:rPr lang="en-US" sz="1800" dirty="0"/>
              <a:t>Aims to improve deepfake detection performance in real-world scenarios by addressing dataset bias and poor model generalization.</a:t>
            </a:r>
          </a:p>
          <a:p>
            <a:pPr>
              <a:buFont typeface="Arial" panose="020B0604020202020204" pitchFamily="34" charset="0"/>
              <a:buChar char="•"/>
            </a:pPr>
            <a:r>
              <a:rPr lang="en-US" sz="1800" dirty="0"/>
              <a:t>Introduces DF40, a large benchmark dataset with diverse manipulation types like face swap, editing, and synthesis.</a:t>
            </a:r>
          </a:p>
          <a:p>
            <a:pPr>
              <a:buFont typeface="Arial" panose="020B0604020202020204" pitchFamily="34" charset="0"/>
              <a:buChar char="•"/>
            </a:pPr>
            <a:r>
              <a:rPr lang="en-US" sz="1800" dirty="0"/>
              <a:t>Focuses on improving cross-dataset evaluation and detection of unseen deepfake techniques.</a:t>
            </a:r>
          </a:p>
          <a:p>
            <a:pPr>
              <a:buFont typeface="Arial" panose="020B0604020202020204" pitchFamily="34" charset="0"/>
              <a:buChar char="•"/>
            </a:pPr>
            <a:r>
              <a:rPr lang="en-US" sz="1800" dirty="0"/>
              <a:t>Enhances robustness and reliability of detection models across different datasets and practical </a:t>
            </a:r>
            <a:endParaRPr lang="en-IN" dirty="0"/>
          </a:p>
        </p:txBody>
      </p:sp>
      <p:sp>
        <p:nvSpPr>
          <p:cNvPr id="6" name="TextBox 5">
            <a:extLst>
              <a:ext uri="{FF2B5EF4-FFF2-40B4-BE49-F238E27FC236}">
                <a16:creationId xmlns:a16="http://schemas.microsoft.com/office/drawing/2014/main" id="{D200B0BC-01A7-795E-1A95-38B64F932853}"/>
              </a:ext>
            </a:extLst>
          </p:cNvPr>
          <p:cNvSpPr txBox="1"/>
          <p:nvPr/>
        </p:nvSpPr>
        <p:spPr>
          <a:xfrm>
            <a:off x="6410327" y="1690062"/>
            <a:ext cx="5467348" cy="3816429"/>
          </a:xfrm>
          <a:prstGeom prst="rect">
            <a:avLst/>
          </a:prstGeom>
          <a:noFill/>
        </p:spPr>
        <p:txBody>
          <a:bodyPr wrap="square">
            <a:spAutoFit/>
          </a:bodyPr>
          <a:lstStyle/>
          <a:p>
            <a:r>
              <a:rPr lang="en-IN" sz="2000" b="1" u="sng" dirty="0"/>
              <a:t>Paper2(</a:t>
            </a:r>
            <a:r>
              <a:rPr lang="en-US" sz="2000" b="1" dirty="0"/>
              <a:t>Deepfake detection using deep learning methods: A systematic and comprehensive review</a:t>
            </a:r>
            <a:r>
              <a:rPr lang="en-IN" sz="2000" b="1" dirty="0"/>
              <a:t>):</a:t>
            </a:r>
          </a:p>
          <a:p>
            <a:endParaRPr lang="en-IN" sz="2000" b="1" dirty="0"/>
          </a:p>
          <a:p>
            <a:pPr>
              <a:buFont typeface="Arial" panose="020B0604020202020204" pitchFamily="34" charset="0"/>
              <a:buChar char="•"/>
            </a:pPr>
            <a:r>
              <a:rPr lang="en-US" altLang="en-US" sz="1800" dirty="0">
                <a:solidFill>
                  <a:schemeClr val="tx1"/>
                </a:solidFill>
              </a:rPr>
              <a:t>Provides a comprehensive survey of deepfake detection methods using deep learning approaches.</a:t>
            </a:r>
          </a:p>
          <a:p>
            <a:pPr>
              <a:buFont typeface="Arial" panose="020B0604020202020204" pitchFamily="34" charset="0"/>
              <a:buChar char="•"/>
            </a:pPr>
            <a:r>
              <a:rPr lang="en-US" sz="1800" dirty="0"/>
              <a:t>Reviews CNN, RNN, GAN-based models and image, video, audio detection techniques.</a:t>
            </a:r>
          </a:p>
          <a:p>
            <a:pPr>
              <a:buFont typeface="Arial" panose="020B0604020202020204" pitchFamily="34" charset="0"/>
              <a:buChar char="•"/>
            </a:pPr>
            <a:r>
              <a:rPr lang="en-US" sz="1800" dirty="0"/>
              <a:t>Analyzes feature extraction methods such as visual, temporal, biological, and forensic features.</a:t>
            </a:r>
          </a:p>
          <a:p>
            <a:pPr>
              <a:buFont typeface="Arial" panose="020B0604020202020204" pitchFamily="34" charset="0"/>
              <a:buChar char="•"/>
            </a:pPr>
            <a:r>
              <a:rPr lang="en-US" sz="1800" dirty="0"/>
              <a:t>Identifies challenges like poor generalization, high computational cost, and lack of real-world deployment.</a:t>
            </a:r>
          </a:p>
        </p:txBody>
      </p:sp>
    </p:spTree>
    <p:extLst>
      <p:ext uri="{BB962C8B-B14F-4D97-AF65-F5344CB8AC3E}">
        <p14:creationId xmlns:p14="http://schemas.microsoft.com/office/powerpoint/2010/main" val="608796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35E35D-8413-8E2F-E509-886429C588CA}"/>
              </a:ext>
            </a:extLst>
          </p:cNvPr>
          <p:cNvSpPr txBox="1"/>
          <p:nvPr/>
        </p:nvSpPr>
        <p:spPr>
          <a:xfrm>
            <a:off x="238125" y="101977"/>
            <a:ext cx="6096000" cy="3139321"/>
          </a:xfrm>
          <a:prstGeom prst="rect">
            <a:avLst/>
          </a:prstGeom>
          <a:noFill/>
        </p:spPr>
        <p:txBody>
          <a:bodyPr wrap="square">
            <a:spAutoFit/>
          </a:bodyPr>
          <a:lstStyle/>
          <a:p>
            <a:r>
              <a:rPr lang="en-IN" b="1" u="sng" dirty="0"/>
              <a:t>Paper3(Multi-Attentional Deepfake Detection 2021):</a:t>
            </a:r>
          </a:p>
          <a:p>
            <a:endParaRPr lang="en-IN" dirty="0"/>
          </a:p>
          <a:p>
            <a:pPr marL="285750" indent="-285750">
              <a:buFont typeface="Arial" panose="020B0604020202020204" pitchFamily="34" charset="0"/>
              <a:buChar char="•"/>
            </a:pPr>
            <a:r>
              <a:rPr lang="en-US" sz="1800" dirty="0"/>
              <a:t>Improves detection accuracy using multiple attention mechanisms for fine-grained classification.</a:t>
            </a:r>
          </a:p>
          <a:p>
            <a:pPr marL="285750" indent="-285750">
              <a:buFont typeface="Arial" panose="020B0604020202020204" pitchFamily="34" charset="0"/>
              <a:buChar char="•"/>
            </a:pPr>
            <a:r>
              <a:rPr lang="en-US" sz="1800" dirty="0"/>
              <a:t>Focuses on detecting subtle local facial manipulation regions like eyes and mouth.</a:t>
            </a:r>
          </a:p>
          <a:p>
            <a:pPr marL="285750" indent="-285750">
              <a:buFont typeface="Arial" panose="020B0604020202020204" pitchFamily="34" charset="0"/>
              <a:buChar char="•"/>
            </a:pPr>
            <a:r>
              <a:rPr lang="en-US" sz="1800" dirty="0"/>
              <a:t>Uses spatial attention and texture enhancement to extract discriminative features.</a:t>
            </a:r>
          </a:p>
          <a:p>
            <a:pPr marL="285750" indent="-285750">
              <a:buFont typeface="Arial" panose="020B0604020202020204" pitchFamily="34" charset="0"/>
              <a:buChar char="•"/>
            </a:pPr>
            <a:r>
              <a:rPr lang="en-US" sz="1800" dirty="0"/>
              <a:t>Enhances detection performance for highly realistic deepfake images.</a:t>
            </a:r>
          </a:p>
          <a:p>
            <a:pPr marL="285750" indent="-285750">
              <a:buFont typeface="Arial" panose="020B0604020202020204" pitchFamily="34" charset="0"/>
              <a:buChar char="•"/>
            </a:pPr>
            <a:endParaRPr lang="en-IN" dirty="0"/>
          </a:p>
        </p:txBody>
      </p:sp>
      <p:sp>
        <p:nvSpPr>
          <p:cNvPr id="6" name="TextBox 5">
            <a:extLst>
              <a:ext uri="{FF2B5EF4-FFF2-40B4-BE49-F238E27FC236}">
                <a16:creationId xmlns:a16="http://schemas.microsoft.com/office/drawing/2014/main" id="{1D468C1D-9EAF-5A23-2CD4-BFA50114A710}"/>
              </a:ext>
            </a:extLst>
          </p:cNvPr>
          <p:cNvSpPr txBox="1"/>
          <p:nvPr/>
        </p:nvSpPr>
        <p:spPr>
          <a:xfrm>
            <a:off x="6096000" y="101977"/>
            <a:ext cx="6096000" cy="3416320"/>
          </a:xfrm>
          <a:prstGeom prst="rect">
            <a:avLst/>
          </a:prstGeom>
          <a:noFill/>
        </p:spPr>
        <p:txBody>
          <a:bodyPr wrap="square">
            <a:spAutoFit/>
          </a:bodyPr>
          <a:lstStyle/>
          <a:p>
            <a:r>
              <a:rPr lang="en-IN" b="1" u="sng" dirty="0"/>
              <a:t>Paper4(</a:t>
            </a:r>
            <a:r>
              <a:rPr lang="en-US" b="1" u="sng" dirty="0"/>
              <a:t>Deepfake Detection Using Rate of Change Between Frames ,Sensors 2021</a:t>
            </a:r>
            <a:r>
              <a:rPr lang="en-IN" b="1" u="sng" dirty="0"/>
              <a:t>):</a:t>
            </a:r>
          </a:p>
          <a:p>
            <a:endParaRPr lang="en-IN" dirty="0"/>
          </a:p>
          <a:p>
            <a:pPr marL="285750" indent="-285750">
              <a:buFont typeface="Arial" panose="020B0604020202020204" pitchFamily="34" charset="0"/>
              <a:buChar char="•"/>
            </a:pPr>
            <a:r>
              <a:rPr lang="en-US" sz="1800" dirty="0"/>
              <a:t>Detects deepfake videos using temporal inconsistencies between consecutive frames.</a:t>
            </a:r>
          </a:p>
          <a:p>
            <a:pPr marL="285750" indent="-285750">
              <a:buFont typeface="Arial" panose="020B0604020202020204" pitchFamily="34" charset="0"/>
              <a:buChar char="•"/>
            </a:pPr>
            <a:r>
              <a:rPr lang="en-US" sz="1800" dirty="0"/>
              <a:t>Analyzes motion, texture, and facial changes caused by manipulation.</a:t>
            </a:r>
          </a:p>
          <a:p>
            <a:pPr marL="285750" indent="-285750">
              <a:buFont typeface="Arial" panose="020B0604020202020204" pitchFamily="34" charset="0"/>
              <a:buChar char="•"/>
            </a:pPr>
            <a:r>
              <a:rPr lang="en-IN" sz="1800" dirty="0"/>
              <a:t>Uses frame extraction, feature comparison, and classification pipeline.</a:t>
            </a:r>
          </a:p>
          <a:p>
            <a:pPr marL="285750" indent="-285750">
              <a:buFont typeface="Arial" panose="020B0604020202020204" pitchFamily="34" charset="0"/>
              <a:buChar char="•"/>
            </a:pPr>
            <a:r>
              <a:rPr lang="en-US" sz="1800" dirty="0"/>
              <a:t>Improves video deepfake detection through temporal feature analysis instead of only spatial features.</a:t>
            </a:r>
          </a:p>
          <a:p>
            <a:pPr marL="285750" indent="-285750">
              <a:buFont typeface="Arial" panose="020B0604020202020204" pitchFamily="34" charset="0"/>
              <a:buChar char="•"/>
            </a:pPr>
            <a:endParaRPr lang="en-IN" dirty="0"/>
          </a:p>
        </p:txBody>
      </p:sp>
      <p:sp>
        <p:nvSpPr>
          <p:cNvPr id="8" name="TextBox 7">
            <a:extLst>
              <a:ext uri="{FF2B5EF4-FFF2-40B4-BE49-F238E27FC236}">
                <a16:creationId xmlns:a16="http://schemas.microsoft.com/office/drawing/2014/main" id="{84FBB18A-1B18-54F6-652E-DDC5FAB5E231}"/>
              </a:ext>
            </a:extLst>
          </p:cNvPr>
          <p:cNvSpPr txBox="1"/>
          <p:nvPr/>
        </p:nvSpPr>
        <p:spPr>
          <a:xfrm>
            <a:off x="238125" y="3480584"/>
            <a:ext cx="5857875" cy="3139321"/>
          </a:xfrm>
          <a:prstGeom prst="rect">
            <a:avLst/>
          </a:prstGeom>
          <a:noFill/>
        </p:spPr>
        <p:txBody>
          <a:bodyPr wrap="square">
            <a:spAutoFit/>
          </a:bodyPr>
          <a:lstStyle/>
          <a:p>
            <a:r>
              <a:rPr lang="en-IN" b="1" u="sng" dirty="0"/>
              <a:t>Paper5(Hybrid </a:t>
            </a:r>
            <a:r>
              <a:rPr lang="en-IN" b="1" u="sng" dirty="0" err="1"/>
              <a:t>ResNeXt</a:t>
            </a:r>
            <a:r>
              <a:rPr lang="en-IN" b="1" u="sng" dirty="0"/>
              <a:t> + LSTM Deepfake Detection Model ,IJISRT 2025)</a:t>
            </a:r>
            <a:r>
              <a:rPr lang="en-IN" dirty="0"/>
              <a:t>:</a:t>
            </a:r>
          </a:p>
          <a:p>
            <a:endParaRPr lang="en-IN" dirty="0"/>
          </a:p>
          <a:p>
            <a:pPr marL="285750" indent="-285750">
              <a:buFont typeface="Arial" panose="020B0604020202020204" pitchFamily="34" charset="0"/>
              <a:buChar char="•"/>
            </a:pPr>
            <a:r>
              <a:rPr lang="en-US" sz="1800" dirty="0"/>
              <a:t>Combines spatial and temporal feature extraction using hybrid deep learning architecture.</a:t>
            </a:r>
          </a:p>
          <a:p>
            <a:pPr marL="285750" indent="-285750">
              <a:buFont typeface="Arial" panose="020B0604020202020204" pitchFamily="34" charset="0"/>
              <a:buChar char="•"/>
            </a:pPr>
            <a:r>
              <a:rPr lang="en-US" sz="1800" dirty="0"/>
              <a:t>Uses </a:t>
            </a:r>
            <a:r>
              <a:rPr lang="en-US" sz="1800" dirty="0" err="1"/>
              <a:t>ResNeXt</a:t>
            </a:r>
            <a:r>
              <a:rPr lang="en-US" sz="1800" dirty="0"/>
              <a:t> for frame-level visual features and LSTM for sequence analysis.</a:t>
            </a:r>
          </a:p>
          <a:p>
            <a:pPr marL="285750" indent="-285750">
              <a:buFont typeface="Arial" panose="020B0604020202020204" pitchFamily="34" charset="0"/>
              <a:buChar char="•"/>
            </a:pPr>
            <a:r>
              <a:rPr lang="en-US" sz="1800" dirty="0"/>
              <a:t>Detects visual inconsistencies and motion anomalies in videos.</a:t>
            </a:r>
          </a:p>
          <a:p>
            <a:pPr marL="285750" indent="-285750">
              <a:buFont typeface="Arial" panose="020B0604020202020204" pitchFamily="34" charset="0"/>
              <a:buChar char="•"/>
            </a:pPr>
            <a:r>
              <a:rPr lang="en-US" sz="1800" dirty="0"/>
              <a:t>Improves robustness and accuracy compared to single-model detection approaches.</a:t>
            </a:r>
          </a:p>
        </p:txBody>
      </p:sp>
      <p:sp>
        <p:nvSpPr>
          <p:cNvPr id="10" name="TextBox 9">
            <a:extLst>
              <a:ext uri="{FF2B5EF4-FFF2-40B4-BE49-F238E27FC236}">
                <a16:creationId xmlns:a16="http://schemas.microsoft.com/office/drawing/2014/main" id="{6B6CF9E9-FAAC-7DD5-DDC4-8F041B6249DC}"/>
              </a:ext>
            </a:extLst>
          </p:cNvPr>
          <p:cNvSpPr txBox="1"/>
          <p:nvPr/>
        </p:nvSpPr>
        <p:spPr>
          <a:xfrm>
            <a:off x="6096000" y="3499441"/>
            <a:ext cx="6096000" cy="3139321"/>
          </a:xfrm>
          <a:prstGeom prst="rect">
            <a:avLst/>
          </a:prstGeom>
          <a:noFill/>
        </p:spPr>
        <p:txBody>
          <a:bodyPr wrap="square">
            <a:spAutoFit/>
          </a:bodyPr>
          <a:lstStyle/>
          <a:p>
            <a:r>
              <a:rPr lang="en-IN" b="1" u="sng" dirty="0"/>
              <a:t>Paper6(</a:t>
            </a:r>
            <a:r>
              <a:rPr lang="en-US" b="1" u="sng" dirty="0"/>
              <a:t>Deepfake Detection by Analyzing GAN Convolutional Traces ,CVPR Workshop</a:t>
            </a:r>
            <a:r>
              <a:rPr lang="en-IN" b="1" u="sng" dirty="0"/>
              <a:t>)</a:t>
            </a:r>
            <a:r>
              <a:rPr lang="en-IN" dirty="0"/>
              <a:t>:</a:t>
            </a:r>
          </a:p>
          <a:p>
            <a:endParaRPr lang="en-IN" dirty="0"/>
          </a:p>
          <a:p>
            <a:pPr marL="285750" indent="-285750">
              <a:buFont typeface="Arial" panose="020B0604020202020204" pitchFamily="34" charset="0"/>
              <a:buChar char="•"/>
            </a:pPr>
            <a:r>
              <a:rPr lang="en-US" sz="1800" dirty="0"/>
              <a:t>Detects deepfake images using hidden GAN-generated convolutional fingerprints.</a:t>
            </a:r>
          </a:p>
          <a:p>
            <a:pPr marL="285750" indent="-285750">
              <a:buFont typeface="Arial" panose="020B0604020202020204" pitchFamily="34" charset="0"/>
              <a:buChar char="•"/>
            </a:pPr>
            <a:r>
              <a:rPr lang="en-US" sz="1800" dirty="0"/>
              <a:t>Extracts generation patterns using Expectation-Maximization algorithm.</a:t>
            </a:r>
          </a:p>
          <a:p>
            <a:pPr marL="285750" indent="-285750">
              <a:buFont typeface="Arial" panose="020B0604020202020204" pitchFamily="34" charset="0"/>
              <a:buChar char="•"/>
            </a:pPr>
            <a:r>
              <a:rPr lang="en-US" sz="1800" dirty="0"/>
              <a:t>Classifies real and fake images and identifies GAN architecture source.</a:t>
            </a:r>
          </a:p>
          <a:p>
            <a:pPr marL="285750" indent="-285750">
              <a:buFont typeface="Arial" panose="020B0604020202020204" pitchFamily="34" charset="0"/>
              <a:buChar char="•"/>
            </a:pPr>
            <a:r>
              <a:rPr lang="en-US" sz="1800" dirty="0"/>
              <a:t>Improves digital media forensics and explainable detection methods.</a:t>
            </a:r>
            <a:endParaRPr lang="en-IN" sz="1800" dirty="0"/>
          </a:p>
        </p:txBody>
      </p:sp>
    </p:spTree>
    <p:extLst>
      <p:ext uri="{BB962C8B-B14F-4D97-AF65-F5344CB8AC3E}">
        <p14:creationId xmlns:p14="http://schemas.microsoft.com/office/powerpoint/2010/main" val="1818364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EABC313-845C-FF42-2D72-A58B35DC4016}"/>
              </a:ext>
            </a:extLst>
          </p:cNvPr>
          <p:cNvSpPr>
            <a:spLocks noGrp="1"/>
          </p:cNvSpPr>
          <p:nvPr>
            <p:ph type="sldNum" sz="quarter" idx="12"/>
          </p:nvPr>
        </p:nvSpPr>
        <p:spPr/>
        <p:txBody>
          <a:bodyPr/>
          <a:lstStyle/>
          <a:p>
            <a:fld id="{A49DFD55-3C28-40EF-9E31-A92D2E4017FF}" type="slidenum">
              <a:rPr lang="en-US" smtClean="0"/>
              <a:pPr/>
              <a:t>5</a:t>
            </a:fld>
            <a:endParaRPr lang="en-US" dirty="0"/>
          </a:p>
        </p:txBody>
      </p:sp>
      <p:sp>
        <p:nvSpPr>
          <p:cNvPr id="6" name="TextBox 5">
            <a:extLst>
              <a:ext uri="{FF2B5EF4-FFF2-40B4-BE49-F238E27FC236}">
                <a16:creationId xmlns:a16="http://schemas.microsoft.com/office/drawing/2014/main" id="{F70FF3AA-16B9-2C70-8CF4-E86A10F83DFD}"/>
              </a:ext>
            </a:extLst>
          </p:cNvPr>
          <p:cNvSpPr txBox="1"/>
          <p:nvPr/>
        </p:nvSpPr>
        <p:spPr>
          <a:xfrm>
            <a:off x="157163" y="1668840"/>
            <a:ext cx="5624512" cy="3139321"/>
          </a:xfrm>
          <a:prstGeom prst="rect">
            <a:avLst/>
          </a:prstGeom>
          <a:noFill/>
        </p:spPr>
        <p:txBody>
          <a:bodyPr wrap="square">
            <a:spAutoFit/>
          </a:bodyPr>
          <a:lstStyle/>
          <a:p>
            <a:r>
              <a:rPr lang="en-IN" b="1" u="sng" dirty="0"/>
              <a:t>Paper7(</a:t>
            </a:r>
            <a:r>
              <a:rPr lang="en-US" b="1" u="sng" dirty="0"/>
              <a:t>Deepfake Video Detection: Challenges and Opportunities,2024</a:t>
            </a:r>
            <a:r>
              <a:rPr lang="en-IN" b="1" u="sng" dirty="0"/>
              <a:t>):</a:t>
            </a:r>
          </a:p>
          <a:p>
            <a:endParaRPr lang="en-IN" b="1" u="sng" dirty="0"/>
          </a:p>
          <a:p>
            <a:pPr marL="285750" indent="-285750">
              <a:buFont typeface="Arial" panose="020B0604020202020204" pitchFamily="34" charset="0"/>
              <a:buChar char="•"/>
            </a:pPr>
            <a:r>
              <a:rPr lang="en-US" sz="1800" dirty="0"/>
              <a:t>Analyzes current challenges and limitations in deepfake detection techniques.</a:t>
            </a:r>
          </a:p>
          <a:p>
            <a:pPr marL="285750" indent="-285750">
              <a:buFont typeface="Arial" panose="020B0604020202020204" pitchFamily="34" charset="0"/>
              <a:buChar char="•"/>
            </a:pPr>
            <a:r>
              <a:rPr lang="en-US" sz="1800" dirty="0"/>
              <a:t>Highlights issues like poor generalization, limited dataset diversity, and high computation.</a:t>
            </a:r>
          </a:p>
          <a:p>
            <a:pPr marL="285750" indent="-285750">
              <a:buFont typeface="Arial" panose="020B0604020202020204" pitchFamily="34" charset="0"/>
              <a:buChar char="•"/>
            </a:pPr>
            <a:r>
              <a:rPr lang="en-US" sz="1800" dirty="0"/>
              <a:t>Examines data, training, and reliability challenges in detection systems.</a:t>
            </a:r>
          </a:p>
          <a:p>
            <a:pPr marL="285750" indent="-285750">
              <a:buFont typeface="Arial" panose="020B0604020202020204" pitchFamily="34" charset="0"/>
              <a:buChar char="•"/>
            </a:pPr>
            <a:r>
              <a:rPr lang="en-US" sz="1800" dirty="0"/>
              <a:t>Provides future research directions for robust and practical detection methods.</a:t>
            </a:r>
            <a:endParaRPr lang="en-IN" sz="1800" dirty="0"/>
          </a:p>
        </p:txBody>
      </p:sp>
      <p:sp>
        <p:nvSpPr>
          <p:cNvPr id="8" name="TextBox 7">
            <a:extLst>
              <a:ext uri="{FF2B5EF4-FFF2-40B4-BE49-F238E27FC236}">
                <a16:creationId xmlns:a16="http://schemas.microsoft.com/office/drawing/2014/main" id="{4C7119CF-80B8-C903-59E2-8E3D67559D82}"/>
              </a:ext>
            </a:extLst>
          </p:cNvPr>
          <p:cNvSpPr txBox="1"/>
          <p:nvPr/>
        </p:nvSpPr>
        <p:spPr>
          <a:xfrm>
            <a:off x="6086476" y="1668840"/>
            <a:ext cx="6105524" cy="3139321"/>
          </a:xfrm>
          <a:prstGeom prst="rect">
            <a:avLst/>
          </a:prstGeom>
          <a:noFill/>
        </p:spPr>
        <p:txBody>
          <a:bodyPr wrap="square">
            <a:spAutoFit/>
          </a:bodyPr>
          <a:lstStyle/>
          <a:p>
            <a:r>
              <a:rPr lang="en-IN" b="1" u="sng" dirty="0"/>
              <a:t>Paper8(</a:t>
            </a:r>
            <a:r>
              <a:rPr lang="en-US" b="1" u="sng" dirty="0" err="1"/>
              <a:t>DeepFake</a:t>
            </a:r>
            <a:r>
              <a:rPr lang="en-US" b="1" u="sng" dirty="0"/>
              <a:t> Detection Challenge (DFDC) Dataset / Systematic Review</a:t>
            </a:r>
            <a:r>
              <a:rPr lang="en-IN" b="1" u="sng" dirty="0"/>
              <a:t>):</a:t>
            </a:r>
          </a:p>
          <a:p>
            <a:endParaRPr lang="en-IN" b="1" u="sng" dirty="0"/>
          </a:p>
          <a:p>
            <a:pPr marL="285750" indent="-285750">
              <a:buFont typeface="Arial" panose="020B0604020202020204" pitchFamily="34" charset="0"/>
              <a:buChar char="•"/>
            </a:pPr>
            <a:r>
              <a:rPr lang="en-US" sz="1800" dirty="0"/>
              <a:t>Introduces a large-scale dataset for training and evaluating deepfake detection models.</a:t>
            </a:r>
          </a:p>
          <a:p>
            <a:pPr marL="285750" indent="-285750">
              <a:buFont typeface="Arial" panose="020B0604020202020204" pitchFamily="34" charset="0"/>
              <a:buChar char="•"/>
            </a:pPr>
            <a:r>
              <a:rPr lang="en-US" sz="1800" dirty="0"/>
              <a:t>Provides realistic fake video samples for benchmarking detection performance.</a:t>
            </a:r>
          </a:p>
          <a:p>
            <a:pPr marL="285750" indent="-285750">
              <a:buFont typeface="Arial" panose="020B0604020202020204" pitchFamily="34" charset="0"/>
              <a:buChar char="•"/>
            </a:pPr>
            <a:r>
              <a:rPr lang="en-US" sz="1800" dirty="0"/>
              <a:t>Addresses challenges like class imbalance and evolving deepfake techniques.</a:t>
            </a:r>
          </a:p>
          <a:p>
            <a:pPr marL="285750" indent="-285750">
              <a:buFont typeface="Arial" panose="020B0604020202020204" pitchFamily="34" charset="0"/>
              <a:buChar char="•"/>
            </a:pPr>
            <a:r>
              <a:rPr lang="en-US" sz="1800" dirty="0"/>
              <a:t>Supports development of robust models for real-world deepfake detection.</a:t>
            </a:r>
            <a:endParaRPr lang="en-IN" sz="1800" dirty="0"/>
          </a:p>
        </p:txBody>
      </p:sp>
    </p:spTree>
    <p:extLst>
      <p:ext uri="{BB962C8B-B14F-4D97-AF65-F5344CB8AC3E}">
        <p14:creationId xmlns:p14="http://schemas.microsoft.com/office/powerpoint/2010/main" val="4159584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7D968BB-4333-F3D2-F4E3-5D1A05CA2FCA}"/>
              </a:ext>
            </a:extLst>
          </p:cNvPr>
          <p:cNvSpPr txBox="1"/>
          <p:nvPr/>
        </p:nvSpPr>
        <p:spPr>
          <a:xfrm>
            <a:off x="1127760" y="282694"/>
            <a:ext cx="6096000" cy="523220"/>
          </a:xfrm>
          <a:prstGeom prst="rect">
            <a:avLst/>
          </a:prstGeom>
          <a:noFill/>
        </p:spPr>
        <p:txBody>
          <a:bodyPr wrap="square">
            <a:spAutoFit/>
          </a:bodyPr>
          <a:lstStyle/>
          <a:p>
            <a:r>
              <a:rPr lang="en-IN" sz="2800" b="1" u="sng" dirty="0"/>
              <a:t>Domains Involved In The Project</a:t>
            </a:r>
          </a:p>
        </p:txBody>
      </p:sp>
      <p:sp>
        <p:nvSpPr>
          <p:cNvPr id="5" name="TextBox 4">
            <a:extLst>
              <a:ext uri="{FF2B5EF4-FFF2-40B4-BE49-F238E27FC236}">
                <a16:creationId xmlns:a16="http://schemas.microsoft.com/office/drawing/2014/main" id="{E4EEAD62-6D30-7537-F0A4-A8B050124AAC}"/>
              </a:ext>
            </a:extLst>
          </p:cNvPr>
          <p:cNvSpPr txBox="1"/>
          <p:nvPr/>
        </p:nvSpPr>
        <p:spPr>
          <a:xfrm>
            <a:off x="1054481" y="1816591"/>
            <a:ext cx="3759200" cy="1192984"/>
          </a:xfrm>
          <a:prstGeom prst="rect">
            <a:avLst/>
          </a:prstGeom>
          <a:noFill/>
        </p:spPr>
        <p:txBody>
          <a:bodyPr wrap="square">
            <a:spAutoFit/>
          </a:bodyPr>
          <a:lstStyle/>
          <a:p>
            <a:r>
              <a:rPr lang="en-IN" b="1" u="sng" dirty="0"/>
              <a:t>React (Frontend) :</a:t>
            </a:r>
          </a:p>
          <a:p>
            <a:r>
              <a:rPr lang="en-IN" dirty="0"/>
              <a:t>Provides user interface for image/video upload and result display.</a:t>
            </a:r>
          </a:p>
        </p:txBody>
      </p:sp>
      <p:sp>
        <p:nvSpPr>
          <p:cNvPr id="6" name="TextBox 5">
            <a:extLst>
              <a:ext uri="{FF2B5EF4-FFF2-40B4-BE49-F238E27FC236}">
                <a16:creationId xmlns:a16="http://schemas.microsoft.com/office/drawing/2014/main" id="{C9667E08-8CB9-AC8B-9439-97159ACB47A0}"/>
              </a:ext>
            </a:extLst>
          </p:cNvPr>
          <p:cNvSpPr txBox="1"/>
          <p:nvPr/>
        </p:nvSpPr>
        <p:spPr>
          <a:xfrm>
            <a:off x="1054481" y="3096922"/>
            <a:ext cx="3673602" cy="923330"/>
          </a:xfrm>
          <a:prstGeom prst="rect">
            <a:avLst/>
          </a:prstGeom>
          <a:noFill/>
        </p:spPr>
        <p:txBody>
          <a:bodyPr wrap="square">
            <a:spAutoFit/>
          </a:bodyPr>
          <a:lstStyle/>
          <a:p>
            <a:r>
              <a:rPr lang="en-IN" b="1" u="sng" dirty="0"/>
              <a:t>Flask / </a:t>
            </a:r>
            <a:r>
              <a:rPr lang="en-IN" b="1" u="sng" dirty="0" err="1"/>
              <a:t>FastAPI</a:t>
            </a:r>
            <a:r>
              <a:rPr lang="en-IN" b="1" u="sng" dirty="0"/>
              <a:t> (Backend) :</a:t>
            </a:r>
          </a:p>
          <a:p>
            <a:r>
              <a:rPr lang="en-IN" dirty="0"/>
              <a:t>Handles API requests and connects frontend with AI models.</a:t>
            </a:r>
          </a:p>
        </p:txBody>
      </p:sp>
      <p:sp>
        <p:nvSpPr>
          <p:cNvPr id="7" name="TextBox 6">
            <a:extLst>
              <a:ext uri="{FF2B5EF4-FFF2-40B4-BE49-F238E27FC236}">
                <a16:creationId xmlns:a16="http://schemas.microsoft.com/office/drawing/2014/main" id="{5241EE39-7078-A297-EFD5-29143533DA45}"/>
              </a:ext>
            </a:extLst>
          </p:cNvPr>
          <p:cNvSpPr txBox="1"/>
          <p:nvPr/>
        </p:nvSpPr>
        <p:spPr>
          <a:xfrm>
            <a:off x="1097280" y="4108432"/>
            <a:ext cx="3454146" cy="923330"/>
          </a:xfrm>
          <a:prstGeom prst="rect">
            <a:avLst/>
          </a:prstGeom>
          <a:noFill/>
        </p:spPr>
        <p:txBody>
          <a:bodyPr wrap="square">
            <a:spAutoFit/>
          </a:bodyPr>
          <a:lstStyle/>
          <a:p>
            <a:r>
              <a:rPr lang="en-IN" b="1" u="sng" dirty="0"/>
              <a:t>Python Programming :</a:t>
            </a:r>
          </a:p>
          <a:p>
            <a:r>
              <a:rPr lang="en-IN" dirty="0"/>
              <a:t>Implements preprocessing, model logic, and integration.</a:t>
            </a:r>
          </a:p>
        </p:txBody>
      </p:sp>
      <p:sp>
        <p:nvSpPr>
          <p:cNvPr id="8" name="TextBox 7">
            <a:extLst>
              <a:ext uri="{FF2B5EF4-FFF2-40B4-BE49-F238E27FC236}">
                <a16:creationId xmlns:a16="http://schemas.microsoft.com/office/drawing/2014/main" id="{893F3FA7-B12A-DBF4-6549-EA86EBC12C7B}"/>
              </a:ext>
            </a:extLst>
          </p:cNvPr>
          <p:cNvSpPr txBox="1"/>
          <p:nvPr/>
        </p:nvSpPr>
        <p:spPr>
          <a:xfrm>
            <a:off x="1097280" y="5119942"/>
            <a:ext cx="3673602" cy="923330"/>
          </a:xfrm>
          <a:prstGeom prst="rect">
            <a:avLst/>
          </a:prstGeom>
          <a:noFill/>
        </p:spPr>
        <p:txBody>
          <a:bodyPr wrap="square">
            <a:spAutoFit/>
          </a:bodyPr>
          <a:lstStyle/>
          <a:p>
            <a:r>
              <a:rPr lang="en-IN" b="1" u="sng" dirty="0"/>
              <a:t>OpenCV (Video Processing) :</a:t>
            </a:r>
          </a:p>
          <a:p>
            <a:r>
              <a:rPr lang="en-IN" dirty="0"/>
              <a:t>Extracts frames from videos for deepfake analysis.</a:t>
            </a:r>
          </a:p>
        </p:txBody>
      </p:sp>
      <p:sp>
        <p:nvSpPr>
          <p:cNvPr id="9" name="TextBox 8">
            <a:extLst>
              <a:ext uri="{FF2B5EF4-FFF2-40B4-BE49-F238E27FC236}">
                <a16:creationId xmlns:a16="http://schemas.microsoft.com/office/drawing/2014/main" id="{3B988D46-A628-BCE3-6D93-94E1B9A52E98}"/>
              </a:ext>
            </a:extLst>
          </p:cNvPr>
          <p:cNvSpPr txBox="1"/>
          <p:nvPr/>
        </p:nvSpPr>
        <p:spPr>
          <a:xfrm>
            <a:off x="6512814" y="1816591"/>
            <a:ext cx="3993642" cy="923330"/>
          </a:xfrm>
          <a:prstGeom prst="rect">
            <a:avLst/>
          </a:prstGeom>
          <a:noFill/>
        </p:spPr>
        <p:txBody>
          <a:bodyPr wrap="square">
            <a:spAutoFit/>
          </a:bodyPr>
          <a:lstStyle/>
          <a:p>
            <a:r>
              <a:rPr lang="en-IN" b="1" u="sng" dirty="0"/>
              <a:t>Computer Vision :</a:t>
            </a:r>
          </a:p>
          <a:p>
            <a:r>
              <a:rPr lang="en-IN" dirty="0"/>
              <a:t>Detects faces and </a:t>
            </a:r>
            <a:r>
              <a:rPr lang="en-IN" dirty="0" err="1"/>
              <a:t>analyzes</a:t>
            </a:r>
            <a:r>
              <a:rPr lang="en-IN" dirty="0"/>
              <a:t> visual patterns.</a:t>
            </a:r>
          </a:p>
        </p:txBody>
      </p:sp>
      <p:sp>
        <p:nvSpPr>
          <p:cNvPr id="10" name="TextBox 9">
            <a:extLst>
              <a:ext uri="{FF2B5EF4-FFF2-40B4-BE49-F238E27FC236}">
                <a16:creationId xmlns:a16="http://schemas.microsoft.com/office/drawing/2014/main" id="{115BD904-58F4-D554-D130-1FEBDBD9E383}"/>
              </a:ext>
            </a:extLst>
          </p:cNvPr>
          <p:cNvSpPr txBox="1"/>
          <p:nvPr/>
        </p:nvSpPr>
        <p:spPr>
          <a:xfrm>
            <a:off x="6539484" y="3095044"/>
            <a:ext cx="3518154" cy="923330"/>
          </a:xfrm>
          <a:prstGeom prst="rect">
            <a:avLst/>
          </a:prstGeom>
          <a:noFill/>
        </p:spPr>
        <p:txBody>
          <a:bodyPr wrap="square">
            <a:spAutoFit/>
          </a:bodyPr>
          <a:lstStyle/>
          <a:p>
            <a:r>
              <a:rPr lang="en-IN" b="1" u="sng" dirty="0"/>
              <a:t>GAN (Deep Learning Model) :</a:t>
            </a:r>
          </a:p>
          <a:p>
            <a:r>
              <a:rPr lang="en-IN" dirty="0"/>
              <a:t>Uses Generator and Discriminator to detect real vs fake content.</a:t>
            </a:r>
          </a:p>
        </p:txBody>
      </p:sp>
      <p:sp>
        <p:nvSpPr>
          <p:cNvPr id="12" name="TextBox 11">
            <a:extLst>
              <a:ext uri="{FF2B5EF4-FFF2-40B4-BE49-F238E27FC236}">
                <a16:creationId xmlns:a16="http://schemas.microsoft.com/office/drawing/2014/main" id="{D2D14776-EF1E-ED17-3D9F-97C12862582A}"/>
              </a:ext>
            </a:extLst>
          </p:cNvPr>
          <p:cNvSpPr txBox="1"/>
          <p:nvPr/>
        </p:nvSpPr>
        <p:spPr>
          <a:xfrm>
            <a:off x="6539484" y="4108432"/>
            <a:ext cx="3728466" cy="923330"/>
          </a:xfrm>
          <a:prstGeom prst="rect">
            <a:avLst/>
          </a:prstGeom>
          <a:noFill/>
        </p:spPr>
        <p:txBody>
          <a:bodyPr wrap="square">
            <a:spAutoFit/>
          </a:bodyPr>
          <a:lstStyle/>
          <a:p>
            <a:r>
              <a:rPr lang="en-IN" b="1" u="sng" dirty="0"/>
              <a:t>Explainable AI (Grad-CAM) :</a:t>
            </a:r>
          </a:p>
          <a:p>
            <a:r>
              <a:rPr lang="en-IN" dirty="0"/>
              <a:t>Highlights suspicious manipulated regions in images or frames.</a:t>
            </a:r>
          </a:p>
        </p:txBody>
      </p:sp>
      <p:sp>
        <p:nvSpPr>
          <p:cNvPr id="13" name="TextBox 12">
            <a:extLst>
              <a:ext uri="{FF2B5EF4-FFF2-40B4-BE49-F238E27FC236}">
                <a16:creationId xmlns:a16="http://schemas.microsoft.com/office/drawing/2014/main" id="{E7BFE131-97AF-D17E-C711-E50B90D0157E}"/>
              </a:ext>
            </a:extLst>
          </p:cNvPr>
          <p:cNvSpPr txBox="1"/>
          <p:nvPr/>
        </p:nvSpPr>
        <p:spPr>
          <a:xfrm>
            <a:off x="6539484" y="5148780"/>
            <a:ext cx="3464814" cy="923330"/>
          </a:xfrm>
          <a:prstGeom prst="rect">
            <a:avLst/>
          </a:prstGeom>
          <a:noFill/>
        </p:spPr>
        <p:txBody>
          <a:bodyPr wrap="square">
            <a:spAutoFit/>
          </a:bodyPr>
          <a:lstStyle/>
          <a:p>
            <a:r>
              <a:rPr lang="en-IN" b="1" u="sng" dirty="0"/>
              <a:t>Result &amp; Risk Analysis :</a:t>
            </a:r>
          </a:p>
          <a:p>
            <a:r>
              <a:rPr lang="en-IN" dirty="0"/>
              <a:t>Displays prediction, confidence score, and risk level.</a:t>
            </a:r>
          </a:p>
        </p:txBody>
      </p:sp>
    </p:spTree>
    <p:extLst>
      <p:ext uri="{BB962C8B-B14F-4D97-AF65-F5344CB8AC3E}">
        <p14:creationId xmlns:p14="http://schemas.microsoft.com/office/powerpoint/2010/main" val="2826768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3D86E9D-4402-566F-0699-70E91FE064BC}"/>
              </a:ext>
            </a:extLst>
          </p:cNvPr>
          <p:cNvSpPr>
            <a:spLocks noGrp="1"/>
          </p:cNvSpPr>
          <p:nvPr>
            <p:ph type="sldNum" sz="quarter" idx="12"/>
          </p:nvPr>
        </p:nvSpPr>
        <p:spPr/>
        <p:txBody>
          <a:bodyPr/>
          <a:lstStyle/>
          <a:p>
            <a:fld id="{A49DFD55-3C28-40EF-9E31-A92D2E4017FF}" type="slidenum">
              <a:rPr lang="en-US" smtClean="0"/>
              <a:pPr/>
              <a:t>7</a:t>
            </a:fld>
            <a:endParaRPr lang="en-US" dirty="0"/>
          </a:p>
        </p:txBody>
      </p:sp>
      <p:sp>
        <p:nvSpPr>
          <p:cNvPr id="9" name="TextBox 8">
            <a:extLst>
              <a:ext uri="{FF2B5EF4-FFF2-40B4-BE49-F238E27FC236}">
                <a16:creationId xmlns:a16="http://schemas.microsoft.com/office/drawing/2014/main" id="{161F7FAB-6862-B5C7-BCE2-6DA6270BBEAA}"/>
              </a:ext>
            </a:extLst>
          </p:cNvPr>
          <p:cNvSpPr txBox="1"/>
          <p:nvPr/>
        </p:nvSpPr>
        <p:spPr>
          <a:xfrm>
            <a:off x="426720" y="196334"/>
            <a:ext cx="6096000" cy="523220"/>
          </a:xfrm>
          <a:prstGeom prst="rect">
            <a:avLst/>
          </a:prstGeom>
          <a:noFill/>
        </p:spPr>
        <p:txBody>
          <a:bodyPr wrap="square">
            <a:spAutoFit/>
          </a:bodyPr>
          <a:lstStyle/>
          <a:p>
            <a:r>
              <a:rPr lang="en-IN" sz="2800" b="1" u="sng" dirty="0">
                <a:latin typeface="+mj-lt"/>
              </a:rPr>
              <a:t>Datasets Involved In The Project</a:t>
            </a:r>
          </a:p>
        </p:txBody>
      </p:sp>
      <p:sp>
        <p:nvSpPr>
          <p:cNvPr id="10" name="Rectangle 1">
            <a:extLst>
              <a:ext uri="{FF2B5EF4-FFF2-40B4-BE49-F238E27FC236}">
                <a16:creationId xmlns:a16="http://schemas.microsoft.com/office/drawing/2014/main" id="{5F7F7DEF-F42A-AF02-A8DA-9D7B66A135B8}"/>
              </a:ext>
            </a:extLst>
          </p:cNvPr>
          <p:cNvSpPr>
            <a:spLocks noChangeArrowheads="1"/>
          </p:cNvSpPr>
          <p:nvPr/>
        </p:nvSpPr>
        <p:spPr bwMode="auto">
          <a:xfrm>
            <a:off x="125818" y="1447666"/>
            <a:ext cx="588890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DF40 Dataset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Introduced in DF40 (</a:t>
            </a:r>
            <a:r>
              <a:rPr kumimoji="0" lang="en-US" altLang="en-US" sz="1600" b="0" i="0" u="none" strike="noStrike" cap="none" normalizeH="0" baseline="0" dirty="0" err="1">
                <a:ln>
                  <a:noFill/>
                </a:ln>
                <a:solidFill>
                  <a:schemeClr val="tx1"/>
                </a:solidFill>
                <a:effectLst/>
                <a:latin typeface="Arial" panose="020B0604020202020204" pitchFamily="34" charset="0"/>
              </a:rPr>
              <a:t>NeurIPS</a:t>
            </a:r>
            <a:r>
              <a:rPr kumimoji="0" lang="en-US" altLang="en-US" sz="1600" b="0" i="0" u="none" strike="noStrike" cap="none" normalizeH="0" baseline="0" dirty="0">
                <a:ln>
                  <a:noFill/>
                </a:ln>
                <a:solidFill>
                  <a:schemeClr val="tx1"/>
                </a:solidFill>
                <a:effectLst/>
                <a:latin typeface="Arial" panose="020B0604020202020204" pitchFamily="34" charset="0"/>
              </a:rPr>
              <a:t> 2024).</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Contains 1M+ images and 100K+ videos.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Includes 40 deepfake generation techniques.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Arial" panose="020B0604020202020204" pitchFamily="34" charset="0"/>
              </a:rPr>
              <a:t>FaceForensics</a:t>
            </a:r>
            <a:r>
              <a:rPr kumimoji="0" lang="en-US" altLang="en-US" sz="1600" b="1" i="0" u="none" strike="noStrike" cap="none" normalizeH="0" baseline="0" dirty="0">
                <a:ln>
                  <a:noFill/>
                </a:ln>
                <a:solidFill>
                  <a:schemeClr val="tx1"/>
                </a:solidFill>
                <a:effectLst/>
                <a:latin typeface="Arial" panose="020B0604020202020204" pitchFamily="34" charset="0"/>
              </a:rPr>
              <a:t>++ Dataset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Used in DF40 study, Zhao et al. (CVPR 2021), Hybrid </a:t>
            </a:r>
            <a:r>
              <a:rPr kumimoji="0" lang="en-US" altLang="en-US" sz="1600" b="0" i="0" u="none" strike="noStrike" cap="none" normalizeH="0" baseline="0" dirty="0" err="1">
                <a:ln>
                  <a:noFill/>
                </a:ln>
                <a:solidFill>
                  <a:schemeClr val="tx1"/>
                </a:solidFill>
                <a:effectLst/>
                <a:latin typeface="Arial" panose="020B0604020202020204" pitchFamily="34" charset="0"/>
              </a:rPr>
              <a:t>ResNeXt+LSTM</a:t>
            </a:r>
            <a:r>
              <a:rPr kumimoji="0" lang="en-US" altLang="en-US" sz="1600" b="0" i="0" u="none" strike="noStrike" cap="none" normalizeH="0" baseline="0" dirty="0">
                <a:ln>
                  <a:noFill/>
                </a:ln>
                <a:solidFill>
                  <a:schemeClr val="tx1"/>
                </a:solidFill>
                <a:effectLst/>
                <a:latin typeface="Arial" panose="020B0604020202020204" pitchFamily="34" charset="0"/>
              </a:rPr>
              <a:t> model.</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Contains manipulated facial videos for deepfake detection research.</a:t>
            </a:r>
          </a:p>
        </p:txBody>
      </p:sp>
      <p:sp>
        <p:nvSpPr>
          <p:cNvPr id="11" name="TextBox 10">
            <a:extLst>
              <a:ext uri="{FF2B5EF4-FFF2-40B4-BE49-F238E27FC236}">
                <a16:creationId xmlns:a16="http://schemas.microsoft.com/office/drawing/2014/main" id="{AEB36C2A-8FDD-4388-B051-915D3BED7119}"/>
              </a:ext>
            </a:extLst>
          </p:cNvPr>
          <p:cNvSpPr txBox="1"/>
          <p:nvPr/>
        </p:nvSpPr>
        <p:spPr>
          <a:xfrm>
            <a:off x="125817" y="3928923"/>
            <a:ext cx="6065520" cy="2062103"/>
          </a:xfrm>
          <a:prstGeom prst="rect">
            <a:avLst/>
          </a:prstGeom>
          <a:noFill/>
        </p:spPr>
        <p:txBody>
          <a:bodyPr wrap="square" rtlCol="0">
            <a:spAutoFit/>
          </a:bodyPr>
          <a:lstStyle/>
          <a:p>
            <a:pPr lvl="0" algn="just" eaLnBrk="0" fontAlgn="base" hangingPunct="0">
              <a:spcBef>
                <a:spcPct val="0"/>
              </a:spcBef>
              <a:spcAft>
                <a:spcPct val="0"/>
              </a:spcAft>
              <a:buFontTx/>
              <a:buChar char="•"/>
            </a:pPr>
            <a:r>
              <a:rPr lang="en-US" altLang="en-US" sz="1600" b="1" dirty="0" err="1">
                <a:latin typeface="Arial" panose="020B0604020202020204" pitchFamily="34" charset="0"/>
              </a:rPr>
              <a:t>DeepFake</a:t>
            </a:r>
            <a:r>
              <a:rPr lang="en-US" altLang="en-US" sz="1600" b="1" dirty="0">
                <a:latin typeface="Arial" panose="020B0604020202020204" pitchFamily="34" charset="0"/>
              </a:rPr>
              <a:t> Detection Challenge (DFDC) Dataset</a:t>
            </a:r>
            <a:endParaRPr lang="en-US" altLang="en-US" sz="1600" dirty="0">
              <a:latin typeface="Arial" panose="020B0604020202020204" pitchFamily="34" charset="0"/>
            </a:endParaRPr>
          </a:p>
          <a:p>
            <a:pPr lvl="0" algn="just" eaLnBrk="0" fontAlgn="base" hangingPunct="0">
              <a:spcBef>
                <a:spcPct val="0"/>
              </a:spcBef>
              <a:spcAft>
                <a:spcPct val="0"/>
              </a:spcAft>
              <a:buFontTx/>
              <a:buChar char="•"/>
            </a:pPr>
            <a:r>
              <a:rPr lang="en-US" altLang="en-US" sz="1600" dirty="0">
                <a:latin typeface="Arial" panose="020B0604020202020204" pitchFamily="34" charset="0"/>
              </a:rPr>
              <a:t>Used in DFDC papers and Hybrid model study.</a:t>
            </a:r>
          </a:p>
          <a:p>
            <a:pPr lvl="0" algn="just" eaLnBrk="0" fontAlgn="base" hangingPunct="0">
              <a:spcBef>
                <a:spcPct val="0"/>
              </a:spcBef>
              <a:spcAft>
                <a:spcPct val="0"/>
              </a:spcAft>
              <a:buFontTx/>
              <a:buChar char="•"/>
            </a:pPr>
            <a:r>
              <a:rPr lang="en-US" altLang="en-US" sz="1600" dirty="0">
                <a:latin typeface="Arial" panose="020B0604020202020204" pitchFamily="34" charset="0"/>
              </a:rPr>
              <a:t>Contains 100K+ fake videos from thousands of actors.</a:t>
            </a:r>
          </a:p>
          <a:p>
            <a:pPr lvl="0" algn="just" eaLnBrk="0" fontAlgn="base" hangingPunct="0">
              <a:spcBef>
                <a:spcPct val="0"/>
              </a:spcBef>
              <a:spcAft>
                <a:spcPct val="0"/>
              </a:spcAft>
              <a:buFontTx/>
              <a:buChar char="•"/>
            </a:pPr>
            <a:r>
              <a:rPr lang="en-US" altLang="en-US" sz="1600" dirty="0">
                <a:latin typeface="Arial" panose="020B0604020202020204" pitchFamily="34" charset="0"/>
              </a:rPr>
              <a:t>Designed for real-world detection evaluation.</a:t>
            </a:r>
          </a:p>
          <a:p>
            <a:pPr lvl="0" eaLnBrk="0" fontAlgn="base" hangingPunct="0">
              <a:spcBef>
                <a:spcPct val="0"/>
              </a:spcBef>
              <a:spcAft>
                <a:spcPct val="0"/>
              </a:spcAft>
              <a:buFontTx/>
              <a:buChar char="•"/>
            </a:pPr>
            <a:r>
              <a:rPr lang="en-US" altLang="en-US" sz="1600" b="1" dirty="0">
                <a:latin typeface="Arial" panose="020B0604020202020204" pitchFamily="34" charset="0"/>
              </a:rPr>
              <a:t>StyleGAN Generated Dataset</a:t>
            </a:r>
            <a:endParaRPr lang="en-US" altLang="en-US" sz="1600" dirty="0">
              <a:latin typeface="Arial" panose="020B0604020202020204" pitchFamily="34" charset="0"/>
            </a:endParaRPr>
          </a:p>
          <a:p>
            <a:pPr lvl="0" eaLnBrk="0" fontAlgn="base" hangingPunct="0">
              <a:spcBef>
                <a:spcPct val="0"/>
              </a:spcBef>
              <a:spcAft>
                <a:spcPct val="0"/>
              </a:spcAft>
              <a:buFontTx/>
              <a:buChar char="•"/>
            </a:pPr>
            <a:r>
              <a:rPr lang="en-US" altLang="en-US" sz="1600" dirty="0">
                <a:latin typeface="Arial" panose="020B0604020202020204" pitchFamily="34" charset="0"/>
              </a:rPr>
              <a:t>Used in GAN fingerprint detection experiments.</a:t>
            </a:r>
          </a:p>
          <a:p>
            <a:pPr lvl="0" eaLnBrk="0" fontAlgn="base" hangingPunct="0">
              <a:spcBef>
                <a:spcPct val="0"/>
              </a:spcBef>
              <a:spcAft>
                <a:spcPct val="0"/>
              </a:spcAft>
              <a:buFontTx/>
              <a:buChar char="•"/>
            </a:pPr>
            <a:r>
              <a:rPr lang="en-US" altLang="en-US" sz="1600" b="1" dirty="0" err="1">
                <a:latin typeface="Arial" panose="020B0604020202020204" pitchFamily="34" charset="0"/>
              </a:rPr>
              <a:t>StarGAN</a:t>
            </a:r>
            <a:r>
              <a:rPr lang="en-US" altLang="en-US" sz="1600" b="1" dirty="0">
                <a:latin typeface="Arial" panose="020B0604020202020204" pitchFamily="34" charset="0"/>
              </a:rPr>
              <a:t> Generated Dataset</a:t>
            </a:r>
            <a:endParaRPr lang="en-US" altLang="en-US" sz="1600" dirty="0">
              <a:latin typeface="Arial" panose="020B0604020202020204" pitchFamily="34" charset="0"/>
            </a:endParaRPr>
          </a:p>
          <a:p>
            <a:pPr lvl="0" eaLnBrk="0" fontAlgn="base" hangingPunct="0">
              <a:spcBef>
                <a:spcPct val="0"/>
              </a:spcBef>
              <a:spcAft>
                <a:spcPct val="0"/>
              </a:spcAft>
              <a:buFontTx/>
              <a:buChar char="•"/>
            </a:pPr>
            <a:r>
              <a:rPr lang="en-US" altLang="en-US" sz="1600" dirty="0">
                <a:latin typeface="Arial" panose="020B0604020202020204" pitchFamily="34" charset="0"/>
              </a:rPr>
              <a:t>Used for GAN architecture detection.</a:t>
            </a:r>
          </a:p>
        </p:txBody>
      </p:sp>
      <p:sp>
        <p:nvSpPr>
          <p:cNvPr id="12" name="TextBox 11">
            <a:extLst>
              <a:ext uri="{FF2B5EF4-FFF2-40B4-BE49-F238E27FC236}">
                <a16:creationId xmlns:a16="http://schemas.microsoft.com/office/drawing/2014/main" id="{1455F04E-621C-FA60-B01F-AB8641612F7A}"/>
              </a:ext>
            </a:extLst>
          </p:cNvPr>
          <p:cNvSpPr txBox="1"/>
          <p:nvPr/>
        </p:nvSpPr>
        <p:spPr>
          <a:xfrm>
            <a:off x="6303097" y="1447666"/>
            <a:ext cx="5888903" cy="2308324"/>
          </a:xfrm>
          <a:prstGeom prst="rect">
            <a:avLst/>
          </a:prstGeom>
          <a:noFill/>
        </p:spPr>
        <p:txBody>
          <a:bodyPr wrap="square" rtlCol="0">
            <a:spAutoFit/>
          </a:bodyPr>
          <a:lstStyle/>
          <a:p>
            <a:pPr lvl="0" algn="just" eaLnBrk="0" fontAlgn="base" hangingPunct="0">
              <a:spcBef>
                <a:spcPct val="0"/>
              </a:spcBef>
              <a:spcAft>
                <a:spcPct val="0"/>
              </a:spcAft>
              <a:buFontTx/>
              <a:buChar char="•"/>
            </a:pPr>
            <a:r>
              <a:rPr lang="en-US" altLang="en-US" sz="1600" b="1" dirty="0">
                <a:latin typeface="Arial" panose="020B0604020202020204" pitchFamily="34" charset="0"/>
              </a:rPr>
              <a:t>Celeb-DF Dataset</a:t>
            </a:r>
            <a:endParaRPr lang="en-US" altLang="en-US" sz="1600" dirty="0">
              <a:latin typeface="Arial" panose="020B0604020202020204" pitchFamily="34" charset="0"/>
            </a:endParaRPr>
          </a:p>
          <a:p>
            <a:pPr lvl="0" algn="just" eaLnBrk="0" fontAlgn="base" hangingPunct="0">
              <a:spcBef>
                <a:spcPct val="0"/>
              </a:spcBef>
              <a:spcAft>
                <a:spcPct val="0"/>
              </a:spcAft>
              <a:buFontTx/>
              <a:buChar char="•"/>
            </a:pPr>
            <a:r>
              <a:rPr lang="en-US" altLang="en-US" sz="1600" dirty="0">
                <a:latin typeface="Arial" panose="020B0604020202020204" pitchFamily="34" charset="0"/>
              </a:rPr>
              <a:t>Used in Zhao et al. and Hybrid model study.</a:t>
            </a:r>
          </a:p>
          <a:p>
            <a:pPr lvl="0" algn="just" eaLnBrk="0" fontAlgn="base" hangingPunct="0">
              <a:spcBef>
                <a:spcPct val="0"/>
              </a:spcBef>
              <a:spcAft>
                <a:spcPct val="0"/>
              </a:spcAft>
              <a:buFontTx/>
              <a:buChar char="•"/>
            </a:pPr>
            <a:r>
              <a:rPr lang="en-US" altLang="en-US" sz="1600" dirty="0">
                <a:latin typeface="Arial" panose="020B0604020202020204" pitchFamily="34" charset="0"/>
              </a:rPr>
              <a:t>High-quality celebrity deepfake videos.</a:t>
            </a:r>
          </a:p>
          <a:p>
            <a:pPr lvl="0" algn="just" eaLnBrk="0" fontAlgn="base" hangingPunct="0">
              <a:spcBef>
                <a:spcPct val="0"/>
              </a:spcBef>
              <a:spcAft>
                <a:spcPct val="0"/>
              </a:spcAft>
              <a:buFontTx/>
              <a:buChar char="•"/>
            </a:pPr>
            <a:r>
              <a:rPr lang="en-US" altLang="en-US" sz="1600" b="1" dirty="0" err="1">
                <a:latin typeface="Arial" panose="020B0604020202020204" pitchFamily="34" charset="0"/>
              </a:rPr>
              <a:t>ForgeryNet</a:t>
            </a:r>
            <a:r>
              <a:rPr lang="en-US" altLang="en-US" sz="1600" b="1" dirty="0">
                <a:latin typeface="Arial" panose="020B0604020202020204" pitchFamily="34" charset="0"/>
              </a:rPr>
              <a:t> Dataset</a:t>
            </a:r>
            <a:endParaRPr lang="en-US" altLang="en-US" sz="1600" dirty="0">
              <a:latin typeface="Arial" panose="020B0604020202020204" pitchFamily="34" charset="0"/>
            </a:endParaRPr>
          </a:p>
          <a:p>
            <a:pPr lvl="0" algn="just" eaLnBrk="0" fontAlgn="base" hangingPunct="0">
              <a:spcBef>
                <a:spcPct val="0"/>
              </a:spcBef>
              <a:spcAft>
                <a:spcPct val="0"/>
              </a:spcAft>
              <a:buFontTx/>
              <a:buChar char="•"/>
            </a:pPr>
            <a:r>
              <a:rPr lang="en-US" altLang="en-US" sz="1600" dirty="0">
                <a:latin typeface="Arial" panose="020B0604020202020204" pitchFamily="34" charset="0"/>
              </a:rPr>
              <a:t>Mentioned in DF40 literature review.</a:t>
            </a:r>
          </a:p>
          <a:p>
            <a:pPr lvl="0" algn="just" eaLnBrk="0" fontAlgn="base" hangingPunct="0">
              <a:spcBef>
                <a:spcPct val="0"/>
              </a:spcBef>
              <a:spcAft>
                <a:spcPct val="0"/>
              </a:spcAft>
              <a:buFontTx/>
              <a:buChar char="•"/>
            </a:pPr>
            <a:r>
              <a:rPr lang="en-US" altLang="en-US" sz="1600" dirty="0">
                <a:latin typeface="Arial" panose="020B0604020202020204" pitchFamily="34" charset="0"/>
              </a:rPr>
              <a:t>Large-scale forgery detection dataset.</a:t>
            </a:r>
          </a:p>
          <a:p>
            <a:pPr lvl="0" algn="just" eaLnBrk="0" fontAlgn="base" hangingPunct="0">
              <a:spcBef>
                <a:spcPct val="0"/>
              </a:spcBef>
              <a:spcAft>
                <a:spcPct val="0"/>
              </a:spcAft>
              <a:buFontTx/>
              <a:buChar char="•"/>
            </a:pPr>
            <a:r>
              <a:rPr lang="en-US" altLang="en-US" sz="1600" b="1" dirty="0" err="1">
                <a:latin typeface="Arial" panose="020B0604020202020204" pitchFamily="34" charset="0"/>
              </a:rPr>
              <a:t>CelebA</a:t>
            </a:r>
            <a:r>
              <a:rPr lang="en-US" altLang="en-US" sz="1600" b="1" dirty="0">
                <a:latin typeface="Arial" panose="020B0604020202020204" pitchFamily="34" charset="0"/>
              </a:rPr>
              <a:t> Dataset</a:t>
            </a:r>
            <a:endParaRPr lang="en-US" altLang="en-US" sz="1600" dirty="0">
              <a:latin typeface="Arial" panose="020B0604020202020204" pitchFamily="34" charset="0"/>
            </a:endParaRPr>
          </a:p>
          <a:p>
            <a:pPr lvl="0" algn="just" eaLnBrk="0" fontAlgn="base" hangingPunct="0">
              <a:spcBef>
                <a:spcPct val="0"/>
              </a:spcBef>
              <a:spcAft>
                <a:spcPct val="0"/>
              </a:spcAft>
              <a:buFontTx/>
              <a:buChar char="•"/>
            </a:pPr>
            <a:r>
              <a:rPr lang="en-US" altLang="en-US" sz="1600" dirty="0">
                <a:latin typeface="Arial" panose="020B0604020202020204" pitchFamily="34" charset="0"/>
              </a:rPr>
              <a:t>Used in GAN convolutional trace detection study.</a:t>
            </a:r>
          </a:p>
          <a:p>
            <a:pPr lvl="0" algn="just" eaLnBrk="0" fontAlgn="base" hangingPunct="0">
              <a:spcBef>
                <a:spcPct val="0"/>
              </a:spcBef>
              <a:spcAft>
                <a:spcPct val="0"/>
              </a:spcAft>
              <a:buFontTx/>
              <a:buChar char="•"/>
            </a:pPr>
            <a:r>
              <a:rPr lang="en-US" altLang="en-US" sz="1600" dirty="0">
                <a:latin typeface="Arial" panose="020B0604020202020204" pitchFamily="34" charset="0"/>
              </a:rPr>
              <a:t>Contains celebrity face images for training and testing.</a:t>
            </a:r>
            <a:endParaRPr lang="en-IN" sz="1600" dirty="0"/>
          </a:p>
        </p:txBody>
      </p:sp>
      <p:sp>
        <p:nvSpPr>
          <p:cNvPr id="13" name="TextBox 12">
            <a:extLst>
              <a:ext uri="{FF2B5EF4-FFF2-40B4-BE49-F238E27FC236}">
                <a16:creationId xmlns:a16="http://schemas.microsoft.com/office/drawing/2014/main" id="{2FFDD1AE-A9CB-1338-E6A4-9F56BDD0B731}"/>
              </a:ext>
            </a:extLst>
          </p:cNvPr>
          <p:cNvSpPr txBox="1"/>
          <p:nvPr/>
        </p:nvSpPr>
        <p:spPr>
          <a:xfrm>
            <a:off x="6303097" y="3755990"/>
            <a:ext cx="5151900" cy="2123658"/>
          </a:xfrm>
          <a:prstGeom prst="rect">
            <a:avLst/>
          </a:prstGeom>
          <a:noFill/>
        </p:spPr>
        <p:txBody>
          <a:bodyPr wrap="square" rtlCol="0">
            <a:spAutoFit/>
          </a:bodyPr>
          <a:lstStyle/>
          <a:p>
            <a:pPr lvl="0" eaLnBrk="0" fontAlgn="base" hangingPunct="0">
              <a:spcBef>
                <a:spcPct val="0"/>
              </a:spcBef>
              <a:spcAft>
                <a:spcPct val="0"/>
              </a:spcAft>
              <a:buFontTx/>
              <a:buChar char="•"/>
            </a:pPr>
            <a:endParaRPr lang="en-US" altLang="en-US" dirty="0">
              <a:latin typeface="Arial" panose="020B0604020202020204" pitchFamily="34" charset="0"/>
            </a:endParaRPr>
          </a:p>
          <a:p>
            <a:pPr lvl="0" eaLnBrk="0" fontAlgn="base" hangingPunct="0">
              <a:spcBef>
                <a:spcPct val="0"/>
              </a:spcBef>
              <a:spcAft>
                <a:spcPct val="0"/>
              </a:spcAft>
              <a:buFontTx/>
              <a:buChar char="•"/>
            </a:pPr>
            <a:r>
              <a:rPr lang="en-US" altLang="en-US" sz="1600" b="1" dirty="0" err="1">
                <a:latin typeface="Arial" panose="020B0604020202020204" pitchFamily="34" charset="0"/>
              </a:rPr>
              <a:t>AttGAN</a:t>
            </a:r>
            <a:r>
              <a:rPr lang="en-US" altLang="en-US" sz="1600" b="1" dirty="0">
                <a:latin typeface="Arial" panose="020B0604020202020204" pitchFamily="34" charset="0"/>
              </a:rPr>
              <a:t> Generated Dataset</a:t>
            </a:r>
            <a:endParaRPr lang="en-US" altLang="en-US" sz="1600" dirty="0">
              <a:latin typeface="Arial" panose="020B0604020202020204" pitchFamily="34" charset="0"/>
            </a:endParaRPr>
          </a:p>
          <a:p>
            <a:pPr lvl="0" eaLnBrk="0" fontAlgn="base" hangingPunct="0">
              <a:spcBef>
                <a:spcPct val="0"/>
              </a:spcBef>
              <a:spcAft>
                <a:spcPct val="0"/>
              </a:spcAft>
              <a:buFontTx/>
              <a:buChar char="•"/>
            </a:pPr>
            <a:r>
              <a:rPr lang="en-US" altLang="en-US" sz="1600" dirty="0">
                <a:latin typeface="Arial" panose="020B0604020202020204" pitchFamily="34" charset="0"/>
              </a:rPr>
              <a:t>Used for evaluating GAN trace detection.</a:t>
            </a:r>
          </a:p>
          <a:p>
            <a:pPr lvl="0" eaLnBrk="0" fontAlgn="base" hangingPunct="0">
              <a:spcBef>
                <a:spcPct val="0"/>
              </a:spcBef>
              <a:spcAft>
                <a:spcPct val="0"/>
              </a:spcAft>
              <a:buFontTx/>
              <a:buChar char="•"/>
            </a:pPr>
            <a:r>
              <a:rPr lang="en-US" altLang="en-US" sz="1600" b="1" dirty="0">
                <a:latin typeface="Arial" panose="020B0604020202020204" pitchFamily="34" charset="0"/>
              </a:rPr>
              <a:t>GDWCT Generated Dataset</a:t>
            </a:r>
            <a:endParaRPr lang="en-US" altLang="en-US" sz="1600" dirty="0">
              <a:latin typeface="Arial" panose="020B0604020202020204" pitchFamily="34" charset="0"/>
            </a:endParaRPr>
          </a:p>
          <a:p>
            <a:pPr lvl="0" eaLnBrk="0" fontAlgn="base" hangingPunct="0">
              <a:spcBef>
                <a:spcPct val="0"/>
              </a:spcBef>
              <a:spcAft>
                <a:spcPct val="0"/>
              </a:spcAft>
              <a:buFontTx/>
              <a:buChar char="•"/>
            </a:pPr>
            <a:r>
              <a:rPr lang="en-US" altLang="en-US" sz="1600" dirty="0">
                <a:latin typeface="Arial" panose="020B0604020202020204" pitchFamily="34" charset="0"/>
              </a:rPr>
              <a:t>Used in GAN-based deepfake analysis.</a:t>
            </a:r>
          </a:p>
          <a:p>
            <a:pPr lvl="0" eaLnBrk="0" fontAlgn="base" hangingPunct="0">
              <a:spcBef>
                <a:spcPct val="0"/>
              </a:spcBef>
              <a:spcAft>
                <a:spcPct val="0"/>
              </a:spcAft>
              <a:buFontTx/>
              <a:buChar char="•"/>
            </a:pPr>
            <a:r>
              <a:rPr lang="en-US" altLang="en-US" sz="1600" b="1" dirty="0">
                <a:latin typeface="Arial" panose="020B0604020202020204" pitchFamily="34" charset="0"/>
              </a:rPr>
              <a:t>StyleGAN2 Generated Images</a:t>
            </a:r>
            <a:endParaRPr lang="en-US" altLang="en-US" sz="1600" dirty="0">
              <a:latin typeface="Arial" panose="020B0604020202020204" pitchFamily="34" charset="0"/>
            </a:endParaRPr>
          </a:p>
          <a:p>
            <a:pPr lvl="0" eaLnBrk="0" fontAlgn="base" hangingPunct="0">
              <a:spcBef>
                <a:spcPct val="0"/>
              </a:spcBef>
              <a:spcAft>
                <a:spcPct val="0"/>
              </a:spcAft>
              <a:buFontTx/>
              <a:buChar char="•"/>
            </a:pPr>
            <a:r>
              <a:rPr lang="en-US" altLang="en-US" sz="1600" dirty="0">
                <a:latin typeface="Arial" panose="020B0604020202020204" pitchFamily="34" charset="0"/>
              </a:rPr>
              <a:t>Used for fake image classification experiments</a:t>
            </a:r>
          </a:p>
          <a:p>
            <a:endParaRPr lang="en-IN" dirty="0"/>
          </a:p>
        </p:txBody>
      </p:sp>
    </p:spTree>
    <p:extLst>
      <p:ext uri="{BB962C8B-B14F-4D97-AF65-F5344CB8AC3E}">
        <p14:creationId xmlns:p14="http://schemas.microsoft.com/office/powerpoint/2010/main" val="2658481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62B7944-BAB8-ACC3-3CEF-D693FA2CFD87}"/>
              </a:ext>
            </a:extLst>
          </p:cNvPr>
          <p:cNvSpPr>
            <a:spLocks noGrp="1"/>
          </p:cNvSpPr>
          <p:nvPr>
            <p:ph type="sldNum" sz="quarter" idx="12"/>
          </p:nvPr>
        </p:nvSpPr>
        <p:spPr/>
        <p:txBody>
          <a:bodyPr/>
          <a:lstStyle/>
          <a:p>
            <a:fld id="{A49DFD55-3C28-40EF-9E31-A92D2E4017FF}" type="slidenum">
              <a:rPr lang="en-US" smtClean="0"/>
              <a:pPr/>
              <a:t>8</a:t>
            </a:fld>
            <a:endParaRPr lang="en-US" dirty="0"/>
          </a:p>
        </p:txBody>
      </p:sp>
      <p:sp>
        <p:nvSpPr>
          <p:cNvPr id="9" name="Content Placeholder 8">
            <a:extLst>
              <a:ext uri="{FF2B5EF4-FFF2-40B4-BE49-F238E27FC236}">
                <a16:creationId xmlns:a16="http://schemas.microsoft.com/office/drawing/2014/main" id="{B533685F-4398-0931-BF3F-2EB092480F70}"/>
              </a:ext>
            </a:extLst>
          </p:cNvPr>
          <p:cNvSpPr>
            <a:spLocks noGrp="1"/>
          </p:cNvSpPr>
          <p:nvPr>
            <p:ph sz="half" idx="13"/>
          </p:nvPr>
        </p:nvSpPr>
        <p:spPr>
          <a:xfrm>
            <a:off x="2400300" y="1327545"/>
            <a:ext cx="9505950" cy="4739879"/>
          </a:xfrm>
        </p:spPr>
        <p:txBody>
          <a:bodyPr>
            <a:normAutofit/>
          </a:bodyPr>
          <a:lstStyle/>
          <a:p>
            <a:pPr>
              <a:buFont typeface="Arial" panose="020B0604020202020204" pitchFamily="34" charset="0"/>
              <a:buChar char="•"/>
            </a:pPr>
            <a:r>
              <a:rPr lang="en-IN" dirty="0"/>
              <a:t>Poor cross-dataset generalization is a major limitation, where detection models perform well on specific training datasets but fail to identify unseen or newly generated deepfake techniques. This issue is reported in DF40 (</a:t>
            </a:r>
            <a:r>
              <a:rPr lang="en-IN" dirty="0" err="1"/>
              <a:t>NeurIPS</a:t>
            </a:r>
            <a:r>
              <a:rPr lang="en-IN" dirty="0"/>
              <a:t> 2024), WIREs Survey (2023), Challenges &amp; Opportunities (2024), DFDC dataset study, and Zhao et al. (CVPR 2021).</a:t>
            </a:r>
          </a:p>
          <a:p>
            <a:pPr>
              <a:buFont typeface="Arial" panose="020B0604020202020204" pitchFamily="34" charset="0"/>
              <a:buChar char="•"/>
            </a:pPr>
            <a:r>
              <a:rPr lang="en-US" dirty="0"/>
              <a:t>Most existing approaches rely mainly on visual features and lack multimodal detection that combines facial, audio, and behavioral information for improved accuracy. This gap is identified in WIREs Survey (2023), DF40 (2024), Sensors (2021), Zhao et al. (2021), and DFDC dataset research.</a:t>
            </a:r>
          </a:p>
          <a:p>
            <a:pPr>
              <a:buFont typeface="Arial" panose="020B0604020202020204" pitchFamily="34" charset="0"/>
              <a:buChar char="•"/>
            </a:pPr>
            <a:r>
              <a:rPr lang="en-US" dirty="0"/>
              <a:t>High computational complexity and heavy model architectures make many detection systems unsuitable for real-time implementation. This limitation is observed in the Hybrid </a:t>
            </a:r>
            <a:r>
              <a:rPr lang="en-US" dirty="0" err="1"/>
              <a:t>ResNeXt</a:t>
            </a:r>
            <a:r>
              <a:rPr lang="en-US" dirty="0"/>
              <a:t> + LSTM model (IJISRT 2025), Zhao et al. (2021), and WIREs Survey (2023).</a:t>
            </a:r>
          </a:p>
          <a:p>
            <a:pPr>
              <a:buFont typeface="Arial" panose="020B0604020202020204" pitchFamily="34" charset="0"/>
              <a:buChar char="•"/>
            </a:pPr>
            <a:r>
              <a:rPr lang="en-US" dirty="0"/>
              <a:t>Many studies lack real-time detection capability and are designed mainly for research purposes rather than practical deployment, as discussed in Sensors (2021), DFDC dataset study, and Challenges &amp; Opportunities (2024).</a:t>
            </a:r>
            <a:endParaRPr lang="en-IN" dirty="0"/>
          </a:p>
          <a:p>
            <a:endParaRPr lang="en-IN" dirty="0"/>
          </a:p>
        </p:txBody>
      </p:sp>
      <p:sp>
        <p:nvSpPr>
          <p:cNvPr id="10" name="Content Placeholder 3">
            <a:extLst>
              <a:ext uri="{FF2B5EF4-FFF2-40B4-BE49-F238E27FC236}">
                <a16:creationId xmlns:a16="http://schemas.microsoft.com/office/drawing/2014/main" id="{75CC7074-0491-6E16-2C25-77EB23B96A61}"/>
              </a:ext>
            </a:extLst>
          </p:cNvPr>
          <p:cNvSpPr txBox="1">
            <a:spLocks/>
          </p:cNvSpPr>
          <p:nvPr/>
        </p:nvSpPr>
        <p:spPr>
          <a:xfrm>
            <a:off x="2628623" y="372140"/>
            <a:ext cx="7458352" cy="567929"/>
          </a:xfrm>
          <a:prstGeom prst="rect">
            <a:avLst/>
          </a:prstGeom>
        </p:spPr>
        <p:txBody>
          <a:bodyPr vert="horz" lIns="91440" tIns="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800" b="0" kern="1200" spc="50" baseline="0">
                <a:solidFill>
                  <a:schemeClr val="tx1"/>
                </a:solidFill>
                <a:latin typeface="+mn-lt"/>
                <a:ea typeface="+mn-ea"/>
                <a:cs typeface="+mn-cs"/>
              </a:defRPr>
            </a:lvl1pPr>
            <a:lvl2pPr marL="283464"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2pPr>
            <a:lvl3pPr marL="566928"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3pPr>
            <a:lvl4pPr marL="859536"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4pPr>
            <a:lvl5pPr marL="1143000"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3200" dirty="0"/>
              <a:t>GAP IDENTIFICATION</a:t>
            </a:r>
          </a:p>
        </p:txBody>
      </p:sp>
    </p:spTree>
    <p:extLst>
      <p:ext uri="{BB962C8B-B14F-4D97-AF65-F5344CB8AC3E}">
        <p14:creationId xmlns:p14="http://schemas.microsoft.com/office/powerpoint/2010/main" val="982113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9</a:t>
            </a:fld>
            <a:endParaRPr lang="en-US" dirty="0"/>
          </a:p>
        </p:txBody>
      </p:sp>
      <p:sp>
        <p:nvSpPr>
          <p:cNvPr id="6" name="Title 3">
            <a:extLst>
              <a:ext uri="{FF2B5EF4-FFF2-40B4-BE49-F238E27FC236}">
                <a16:creationId xmlns:a16="http://schemas.microsoft.com/office/drawing/2014/main" id="{3B93730F-C8B4-74FD-C54C-407C2A9104E7}"/>
              </a:ext>
            </a:extLst>
          </p:cNvPr>
          <p:cNvSpPr>
            <a:spLocks noGrp="1"/>
          </p:cNvSpPr>
          <p:nvPr>
            <p:ph type="title"/>
          </p:nvPr>
        </p:nvSpPr>
        <p:spPr>
          <a:xfrm>
            <a:off x="990600" y="90558"/>
            <a:ext cx="7029450" cy="1029151"/>
          </a:xfrm>
        </p:spPr>
        <p:txBody>
          <a:bodyPr/>
          <a:lstStyle/>
          <a:p>
            <a:r>
              <a:rPr lang="en-IN" dirty="0"/>
              <a:t>Feasibility Analysis</a:t>
            </a:r>
            <a:br>
              <a:rPr lang="en-IN" dirty="0"/>
            </a:br>
            <a:endParaRPr lang="en-IN" dirty="0"/>
          </a:p>
        </p:txBody>
      </p:sp>
      <p:sp>
        <p:nvSpPr>
          <p:cNvPr id="10" name="Rectangle 2">
            <a:extLst>
              <a:ext uri="{FF2B5EF4-FFF2-40B4-BE49-F238E27FC236}">
                <a16:creationId xmlns:a16="http://schemas.microsoft.com/office/drawing/2014/main" id="{62BCAD5F-B896-FCD9-840B-4B36C13C20E6}"/>
              </a:ext>
            </a:extLst>
          </p:cNvPr>
          <p:cNvSpPr>
            <a:spLocks noChangeArrowheads="1"/>
          </p:cNvSpPr>
          <p:nvPr/>
        </p:nvSpPr>
        <p:spPr bwMode="auto">
          <a:xfrm>
            <a:off x="309372" y="970259"/>
            <a:ext cx="11573256"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b="1" dirty="0">
                <a:latin typeface="Arial" panose="020B0604020202020204" pitchFamily="34" charset="0"/>
              </a:rPr>
              <a:t>Technical Feasibility</a:t>
            </a: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The project uses AI and Deep Learning technologies such as CNN, GAN, TensorFlow and OpenCV.</a:t>
            </a: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Public datasets, like Celeb-DF v1 and Celeb-DF v2, are available for model </a:t>
            </a:r>
            <a:r>
              <a:rPr lang="en-US" altLang="en-US" sz="1600" dirty="0" err="1">
                <a:latin typeface="Arial" panose="020B0604020202020204" pitchFamily="34" charset="0"/>
              </a:rPr>
              <a:t>training.Google</a:t>
            </a:r>
            <a:r>
              <a:rPr lang="en-US" altLang="en-US" sz="1600" dirty="0">
                <a:latin typeface="Arial" panose="020B0604020202020204" pitchFamily="34" charset="0"/>
              </a:rPr>
              <a:t> Collab and existing computer systems can be used for training and testing.</a:t>
            </a: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Required software tools are open source and easily available.</a:t>
            </a:r>
          </a:p>
          <a:p>
            <a:pPr marL="285750" lvl="0" indent="-285750" eaLnBrk="0" fontAlgn="base" hangingPunct="0">
              <a:spcBef>
                <a:spcPct val="0"/>
              </a:spcBef>
              <a:spcAft>
                <a:spcPct val="0"/>
              </a:spcAft>
              <a:buFont typeface="Arial" panose="020B0604020202020204" pitchFamily="34" charset="0"/>
              <a:buChar char="•"/>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pPr>
            <a:r>
              <a:rPr lang="en-US" altLang="en-US" b="1" dirty="0">
                <a:latin typeface="Arial" panose="020B0604020202020204" pitchFamily="34" charset="0"/>
              </a:rPr>
              <a:t>Economic Feasibility</a:t>
            </a: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Most of the tools and datasets used are free of cost.</a:t>
            </a: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 No costly hardware or licensed software required.</a:t>
            </a: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 Development cost is negligible and manageable for an academic project</a:t>
            </a:r>
            <a:r>
              <a:rPr lang="en-US" altLang="en-US" dirty="0">
                <a:latin typeface="Arial" panose="020B0604020202020204" pitchFamily="34" charset="0"/>
              </a:rPr>
              <a:t>.</a:t>
            </a:r>
          </a:p>
          <a:p>
            <a:pPr marL="285750" lvl="0" indent="-285750" eaLnBrk="0" fontAlgn="base" hangingPunct="0">
              <a:spcBef>
                <a:spcPct val="0"/>
              </a:spcBef>
              <a:spcAft>
                <a:spcPct val="0"/>
              </a:spcAft>
              <a:buFont typeface="Arial" panose="020B0604020202020204" pitchFamily="34" charset="0"/>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pPr>
            <a:r>
              <a:rPr lang="en-US" altLang="en-US" b="1" dirty="0">
                <a:latin typeface="Arial" panose="020B0604020202020204" pitchFamily="34" charset="0"/>
              </a:rPr>
              <a:t>Operational Feasibility</a:t>
            </a: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The system can be useful in detecting fake/manipulated images/videos.</a:t>
            </a: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Useful in cyber security, verification of social media and prevention of misinformation.</a:t>
            </a: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 User-friendly interface with easy real/fake prediction results</a:t>
            </a:r>
            <a:r>
              <a:rPr lang="en-US" altLang="en-US" dirty="0">
                <a:latin typeface="Arial" panose="020B0604020202020204" pitchFamily="34" charset="0"/>
              </a:rPr>
              <a:t>.</a:t>
            </a:r>
          </a:p>
          <a:p>
            <a:pPr marL="285750" lvl="0" indent="-285750" eaLnBrk="0" fontAlgn="base" hangingPunct="0">
              <a:spcBef>
                <a:spcPct val="0"/>
              </a:spcBef>
              <a:spcAft>
                <a:spcPct val="0"/>
              </a:spcAft>
              <a:buFont typeface="Arial" panose="020B0604020202020204" pitchFamily="34" charset="0"/>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pPr>
            <a:r>
              <a:rPr lang="en-US" altLang="en-US" b="1" dirty="0">
                <a:latin typeface="Arial" panose="020B0604020202020204" pitchFamily="34" charset="0"/>
              </a:rPr>
              <a:t>Schedule Feasibility</a:t>
            </a: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The project can be finished within the academic schedule.</a:t>
            </a: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The work is divided into phases like data pre-processing, model training, testing and documentation.</a:t>
            </a: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Current progress includes Dataset preprocessing and model training on Celeb-DF v2 dataset.</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71516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8FC28-E0BD-4387-B8BE-9965D1A57FF1}"/>
              </a:ext>
            </a:extLst>
          </p:cNvPr>
          <p:cNvSpPr>
            <a:spLocks noGrp="1"/>
          </p:cNvSpPr>
          <p:nvPr>
            <p:ph type="title"/>
          </p:nvPr>
        </p:nvSpPr>
        <p:spPr>
          <a:xfrm>
            <a:off x="247533" y="76199"/>
            <a:ext cx="5884027" cy="476251"/>
          </a:xfrm>
        </p:spPr>
        <p:txBody>
          <a:bodyPr/>
          <a:lstStyle/>
          <a:p>
            <a:r>
              <a:rPr lang="en-US" dirty="0"/>
              <a:t>STIMULATION STUDY</a:t>
            </a:r>
          </a:p>
        </p:txBody>
      </p:sp>
      <p:sp>
        <p:nvSpPr>
          <p:cNvPr id="6" name="Slide Number Placeholder 5">
            <a:extLst>
              <a:ext uri="{FF2B5EF4-FFF2-40B4-BE49-F238E27FC236}">
                <a16:creationId xmlns:a16="http://schemas.microsoft.com/office/drawing/2014/main" id="{7C4B8313-9270-4128-8674-3A3E42B806BC}"/>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10</a:t>
            </a:fld>
            <a:endParaRPr lang="en-US" dirty="0"/>
          </a:p>
        </p:txBody>
      </p:sp>
      <p:cxnSp>
        <p:nvCxnSpPr>
          <p:cNvPr id="23" name="Straight Connector 22">
            <a:extLst>
              <a:ext uri="{FF2B5EF4-FFF2-40B4-BE49-F238E27FC236}">
                <a16:creationId xmlns:a16="http://schemas.microsoft.com/office/drawing/2014/main" id="{D87F08D6-2CA7-4A5A-BE34-07113DCA535D}"/>
              </a:ext>
              <a:ext uri="{C183D7F6-B498-43B3-948B-1728B52AA6E4}">
                <adec:decorative xmlns:adec="http://schemas.microsoft.com/office/drawing/2017/decorative" val="1"/>
              </a:ext>
            </a:extLst>
          </p:cNvPr>
          <p:cNvCxnSpPr>
            <a:cxnSpLocks/>
          </p:cNvCxnSpPr>
          <p:nvPr userDrawn="1"/>
        </p:nvCxnSpPr>
        <p:spPr>
          <a:xfrm flipH="1" flipV="1">
            <a:off x="0" y="876300"/>
            <a:ext cx="5246255" cy="17098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ectangle 2">
            <a:extLst>
              <a:ext uri="{FF2B5EF4-FFF2-40B4-BE49-F238E27FC236}">
                <a16:creationId xmlns:a16="http://schemas.microsoft.com/office/drawing/2014/main" id="{39BC2416-C8D4-7980-2C44-D318D3A038B3}"/>
              </a:ext>
            </a:extLst>
          </p:cNvPr>
          <p:cNvSpPr>
            <a:spLocks noGrp="1" noChangeArrowheads="1"/>
          </p:cNvSpPr>
          <p:nvPr>
            <p:ph sz="half" idx="14"/>
          </p:nvPr>
        </p:nvSpPr>
        <p:spPr bwMode="auto">
          <a:xfrm>
            <a:off x="71120" y="136526"/>
            <a:ext cx="12120880" cy="7550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A simulation study was conducted using </a:t>
            </a:r>
            <a:r>
              <a:rPr kumimoji="0" lang="en-US" altLang="en-US" sz="1800" b="1" i="0" u="none" strike="noStrike" cap="none" normalizeH="0" baseline="0" dirty="0">
                <a:ln>
                  <a:noFill/>
                </a:ln>
                <a:solidFill>
                  <a:schemeClr val="tx1"/>
                </a:solidFill>
                <a:effectLst/>
              </a:rPr>
              <a:t>Celeb-DF v2</a:t>
            </a:r>
            <a:r>
              <a:rPr kumimoji="0" lang="en-US" altLang="en-US" sz="1800" b="0" i="0" u="none" strike="noStrike" cap="none" normalizeH="0" baseline="0" dirty="0">
                <a:ln>
                  <a:noFill/>
                </a:ln>
                <a:solidFill>
                  <a:schemeClr val="tx1"/>
                </a:solidFill>
                <a:effectLst/>
              </a:rPr>
              <a:t> dataset containing both real and deepfake images/videos.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A structured database was created by organizing real and fake samples separately for efficient training and testing.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Data handling and filtering techniques were used to remove corrupted, duplicate, and low-quality samples from the dataset.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Data preprocessing steps included frame extraction using OpenCV, face cropping, image resizing, normalization, and tensor conversion.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Data augmentation methods such as horizontal flipping, color jittering, and Gaussian noise were applied to improve model robustness and reduce overfitting. </a:t>
            </a:r>
          </a:p>
          <a:p>
            <a:pPr lvl="0" eaLnBrk="0" fontAlgn="base" hangingPunct="0">
              <a:spcBef>
                <a:spcPct val="0"/>
              </a:spcBef>
              <a:spcAft>
                <a:spcPct val="0"/>
              </a:spcAft>
              <a:buFontTx/>
              <a:buChar char="•"/>
            </a:pPr>
            <a:r>
              <a:rPr lang="en-US" altLang="en-US" dirty="0"/>
              <a:t>The system implemented a </a:t>
            </a:r>
            <a:r>
              <a:rPr lang="en-US" altLang="en-US" b="1" dirty="0"/>
              <a:t>GAN-based Deepfake Detection framework</a:t>
            </a:r>
            <a:r>
              <a:rPr lang="en-US" altLang="en-US" dirty="0"/>
              <a:t> using: </a:t>
            </a:r>
          </a:p>
          <a:p>
            <a:pPr marL="626364" lvl="1" indent="-342900" eaLnBrk="0" fontAlgn="base" hangingPunct="0">
              <a:spcBef>
                <a:spcPct val="0"/>
              </a:spcBef>
              <a:spcAft>
                <a:spcPct val="0"/>
              </a:spcAft>
              <a:buFont typeface="+mj-lt"/>
              <a:buAutoNum type="arabicPeriod"/>
            </a:pPr>
            <a:r>
              <a:rPr lang="en-US" altLang="en-US" dirty="0"/>
              <a:t>U-Net Generator </a:t>
            </a:r>
          </a:p>
          <a:p>
            <a:pPr marL="626364" lvl="1" indent="-342900" eaLnBrk="0" fontAlgn="base" hangingPunct="0">
              <a:spcBef>
                <a:spcPct val="0"/>
              </a:spcBef>
              <a:spcAft>
                <a:spcPct val="0"/>
              </a:spcAft>
              <a:buFont typeface="+mj-lt"/>
              <a:buAutoNum type="arabicPeriod"/>
            </a:pPr>
            <a:r>
              <a:rPr lang="en-US" altLang="en-US" dirty="0"/>
              <a:t>EfficientNet-B4 Discriminator </a:t>
            </a:r>
          </a:p>
          <a:p>
            <a:pPr marL="626364" lvl="1" indent="-342900" eaLnBrk="0" fontAlgn="base" hangingPunct="0">
              <a:spcBef>
                <a:spcPct val="0"/>
              </a:spcBef>
              <a:spcAft>
                <a:spcPct val="0"/>
              </a:spcAft>
              <a:buFont typeface="+mj-lt"/>
              <a:buAutoNum type="arabicPeriod"/>
            </a:pPr>
            <a:r>
              <a:rPr lang="en-US" altLang="en-US" dirty="0"/>
              <a:t>LSTM-based Video Discriminator for temporal analysis </a:t>
            </a:r>
          </a:p>
          <a:p>
            <a:pPr lvl="0" eaLnBrk="0" fontAlgn="base" hangingPunct="0">
              <a:spcBef>
                <a:spcPct val="0"/>
              </a:spcBef>
              <a:spcAft>
                <a:spcPct val="0"/>
              </a:spcAft>
              <a:buFontTx/>
              <a:buChar char="•"/>
            </a:pPr>
            <a:r>
              <a:rPr lang="en-US" altLang="en-US" dirty="0"/>
              <a:t>Binary Cross Entropy Loss and L1 Loss functions were used during training for better classification and reconstruction performance. </a:t>
            </a:r>
          </a:p>
          <a:p>
            <a:pPr lvl="0" eaLnBrk="0" fontAlgn="base" hangingPunct="0">
              <a:spcBef>
                <a:spcPct val="0"/>
              </a:spcBef>
              <a:spcAft>
                <a:spcPct val="0"/>
              </a:spcAft>
              <a:buFontTx/>
              <a:buChar char="•"/>
            </a:pPr>
            <a:r>
              <a:rPr lang="en-US" altLang="en-US" dirty="0"/>
              <a:t>Model evaluation was performed using Accuracy Score, F1-Score, AUC-ROC, ROC Curve, and Confusion Matrix analysis. </a:t>
            </a:r>
          </a:p>
          <a:p>
            <a:pPr lvl="0" eaLnBrk="0" fontAlgn="base" hangingPunct="0">
              <a:spcBef>
                <a:spcPct val="0"/>
              </a:spcBef>
              <a:spcAft>
                <a:spcPct val="0"/>
              </a:spcAft>
              <a:buFontTx/>
              <a:buChar char="•"/>
            </a:pPr>
            <a:r>
              <a:rPr lang="en-US" dirty="0"/>
              <a:t>The proposed system achieved approximately </a:t>
            </a:r>
            <a:r>
              <a:rPr lang="en-US" b="1" dirty="0"/>
              <a:t>96% confidence/accuracy score</a:t>
            </a:r>
            <a:r>
              <a:rPr lang="en-US" dirty="0"/>
              <a:t> in detecting deepfake media effectively.</a:t>
            </a:r>
          </a:p>
          <a:p>
            <a:pPr lvl="0" eaLnBrk="0" fontAlgn="base" hangingPunct="0">
              <a:spcBef>
                <a:spcPct val="0"/>
              </a:spcBef>
              <a:spcAft>
                <a:spcPct val="0"/>
              </a:spcAft>
              <a:buFontTx/>
              <a:buChar char="•"/>
            </a:pPr>
            <a:r>
              <a:rPr lang="en-IN" dirty="0"/>
              <a:t>Dataset Split</a:t>
            </a:r>
          </a:p>
          <a:p>
            <a:pPr marL="626364" lvl="1" indent="-342900">
              <a:buFont typeface="+mj-lt"/>
              <a:buAutoNum type="arabicPeriod"/>
            </a:pPr>
            <a:r>
              <a:rPr lang="en-IN" dirty="0"/>
              <a:t>70% Dataset → Training </a:t>
            </a:r>
          </a:p>
          <a:p>
            <a:pPr marL="626364" lvl="1" indent="-342900">
              <a:buFont typeface="+mj-lt"/>
              <a:buAutoNum type="arabicPeriod"/>
            </a:pPr>
            <a:r>
              <a:rPr lang="en-IN" dirty="0"/>
              <a:t>15% Dataset → Testing &amp; Validation</a:t>
            </a:r>
          </a:p>
          <a:p>
            <a:pPr lvl="0" eaLnBrk="0" fontAlgn="base" hangingPunct="0">
              <a:spcBef>
                <a:spcPct val="0"/>
              </a:spcBef>
              <a:spcAft>
                <a:spcPct val="0"/>
              </a:spcAft>
              <a:buFontTx/>
              <a:buChar char="•"/>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42861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1344A6F-57E6-8AB1-3835-10A34553EB13}"/>
              </a:ext>
            </a:extLst>
          </p:cNvPr>
          <p:cNvSpPr>
            <a:spLocks noGrp="1"/>
          </p:cNvSpPr>
          <p:nvPr>
            <p:ph type="sldNum" sz="quarter" idx="12"/>
          </p:nvPr>
        </p:nvSpPr>
        <p:spPr/>
        <p:txBody>
          <a:bodyPr/>
          <a:lstStyle/>
          <a:p>
            <a:fld id="{A49DFD55-3C28-40EF-9E31-A92D2E4017FF}" type="slidenum">
              <a:rPr lang="en-US" smtClean="0"/>
              <a:pPr/>
              <a:t>11</a:t>
            </a:fld>
            <a:endParaRPr lang="en-US" dirty="0"/>
          </a:p>
        </p:txBody>
      </p:sp>
      <p:pic>
        <p:nvPicPr>
          <p:cNvPr id="11" name="Picture 10">
            <a:extLst>
              <a:ext uri="{FF2B5EF4-FFF2-40B4-BE49-F238E27FC236}">
                <a16:creationId xmlns:a16="http://schemas.microsoft.com/office/drawing/2014/main" id="{FF3751A6-A2D5-4817-6B9D-E42CDC2D3604}"/>
              </a:ext>
            </a:extLst>
          </p:cNvPr>
          <p:cNvPicPr>
            <a:picLocks noChangeAspect="1"/>
          </p:cNvPicPr>
          <p:nvPr/>
        </p:nvPicPr>
        <p:blipFill>
          <a:blip r:embed="rId2"/>
          <a:stretch>
            <a:fillRect/>
          </a:stretch>
        </p:blipFill>
        <p:spPr>
          <a:xfrm>
            <a:off x="1340285" y="574188"/>
            <a:ext cx="9526841" cy="6283812"/>
          </a:xfrm>
          <a:prstGeom prst="rect">
            <a:avLst/>
          </a:prstGeom>
        </p:spPr>
      </p:pic>
      <p:sp>
        <p:nvSpPr>
          <p:cNvPr id="13" name="TextBox 12">
            <a:extLst>
              <a:ext uri="{FF2B5EF4-FFF2-40B4-BE49-F238E27FC236}">
                <a16:creationId xmlns:a16="http://schemas.microsoft.com/office/drawing/2014/main" id="{278D8DE2-C3DC-A118-D364-2D44F8197F51}"/>
              </a:ext>
            </a:extLst>
          </p:cNvPr>
          <p:cNvSpPr txBox="1"/>
          <p:nvPr/>
        </p:nvSpPr>
        <p:spPr>
          <a:xfrm>
            <a:off x="1046480" y="204856"/>
            <a:ext cx="6096000" cy="369332"/>
          </a:xfrm>
          <a:prstGeom prst="rect">
            <a:avLst/>
          </a:prstGeom>
          <a:noFill/>
        </p:spPr>
        <p:txBody>
          <a:bodyPr wrap="square">
            <a:spAutoFit/>
          </a:bodyPr>
          <a:lstStyle/>
          <a:p>
            <a:r>
              <a:rPr lang="en-US" dirty="0"/>
              <a:t>Performance Analysis and Evaluation Graphs</a:t>
            </a:r>
            <a:endParaRPr lang="en-IN" dirty="0"/>
          </a:p>
        </p:txBody>
      </p:sp>
    </p:spTree>
    <p:extLst>
      <p:ext uri="{BB962C8B-B14F-4D97-AF65-F5344CB8AC3E}">
        <p14:creationId xmlns:p14="http://schemas.microsoft.com/office/powerpoint/2010/main" val="908625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E2E6A-35EC-1B8E-0FD7-8C67870ACA64}"/>
              </a:ext>
            </a:extLst>
          </p:cNvPr>
          <p:cNvSpPr>
            <a:spLocks noGrp="1"/>
          </p:cNvSpPr>
          <p:nvPr>
            <p:ph type="title"/>
          </p:nvPr>
        </p:nvSpPr>
        <p:spPr>
          <a:xfrm>
            <a:off x="2790825" y="285749"/>
            <a:ext cx="8420100" cy="654371"/>
          </a:xfrm>
        </p:spPr>
        <p:txBody>
          <a:bodyPr/>
          <a:lstStyle/>
          <a:p>
            <a:r>
              <a:rPr lang="en-IN" dirty="0"/>
              <a:t>Future Development</a:t>
            </a:r>
            <a:endParaRPr lang="en-US" dirty="0"/>
          </a:p>
        </p:txBody>
      </p:sp>
      <p:sp>
        <p:nvSpPr>
          <p:cNvPr id="8" name="Slide Number Placeholder 7">
            <a:extLst>
              <a:ext uri="{FF2B5EF4-FFF2-40B4-BE49-F238E27FC236}">
                <a16:creationId xmlns:a16="http://schemas.microsoft.com/office/drawing/2014/main" id="{8F44A959-C2BB-9170-C99C-1A2EDB71B994}"/>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12</a:t>
            </a:fld>
            <a:endParaRPr lang="en-US" dirty="0"/>
          </a:p>
        </p:txBody>
      </p:sp>
      <p:sp>
        <p:nvSpPr>
          <p:cNvPr id="4" name="Text Placeholder 3">
            <a:extLst>
              <a:ext uri="{FF2B5EF4-FFF2-40B4-BE49-F238E27FC236}">
                <a16:creationId xmlns:a16="http://schemas.microsoft.com/office/drawing/2014/main" id="{6119491A-05D2-ACA7-6031-E3BB83146307}"/>
              </a:ext>
            </a:extLst>
          </p:cNvPr>
          <p:cNvSpPr>
            <a:spLocks noGrp="1"/>
          </p:cNvSpPr>
          <p:nvPr>
            <p:ph type="body" idx="1"/>
          </p:nvPr>
        </p:nvSpPr>
        <p:spPr>
          <a:xfrm>
            <a:off x="2524125" y="1365447"/>
            <a:ext cx="9391650" cy="5173464"/>
          </a:xfrm>
        </p:spPr>
        <p:txBody>
          <a:bodyPr>
            <a:normAutofit/>
          </a:bodyPr>
          <a:lstStyle/>
          <a:p>
            <a:r>
              <a:rPr lang="en-IN" sz="2000" u="sng" dirty="0"/>
              <a:t>Real-Time Platform Integration</a:t>
            </a:r>
          </a:p>
          <a:p>
            <a:r>
              <a:rPr lang="en-US" b="0" dirty="0"/>
              <a:t>Integrate detection into social media and streaming platforms to stop misinformation early.</a:t>
            </a:r>
            <a:endParaRPr lang="en-IN" b="0" dirty="0"/>
          </a:p>
          <a:p>
            <a:r>
              <a:rPr lang="en-IN" sz="2000" u="sng" dirty="0"/>
              <a:t>Cross-Dataset Generalization</a:t>
            </a:r>
          </a:p>
          <a:p>
            <a:r>
              <a:rPr lang="en-IN" b="0" dirty="0"/>
              <a:t>Improve model robustness to detect unseen manipulation techniques and new deepfake methods.</a:t>
            </a:r>
            <a:endParaRPr lang="en-IN" dirty="0"/>
          </a:p>
          <a:p>
            <a:r>
              <a:rPr lang="en-IN" sz="2000" u="sng" dirty="0"/>
              <a:t>Lightweight Model Optimization</a:t>
            </a:r>
          </a:p>
          <a:p>
            <a:r>
              <a:rPr lang="en-IN" b="0" dirty="0"/>
              <a:t>Develop efficient models with lower computational cost for faster and edge-device deployment.</a:t>
            </a:r>
          </a:p>
          <a:p>
            <a:r>
              <a:rPr lang="en-IN" sz="2000" u="sng" dirty="0"/>
              <a:t>Multimodal Detection</a:t>
            </a:r>
          </a:p>
          <a:p>
            <a:r>
              <a:rPr lang="en-IN" b="0" dirty="0"/>
              <a:t>Extend the system to include multimodal deepfake detection for improved accuracy.</a:t>
            </a:r>
          </a:p>
          <a:p>
            <a:r>
              <a:rPr lang="en-IN" sz="2000" u="sng" dirty="0"/>
              <a:t>Enhanced Explainability</a:t>
            </a:r>
          </a:p>
          <a:p>
            <a:r>
              <a:rPr lang="en-IN" b="0" dirty="0"/>
              <a:t>Improve heatmap visualization and provide clearer reasoning behind predictions for legal and security use.</a:t>
            </a:r>
          </a:p>
          <a:p>
            <a:endParaRPr lang="en-IN" dirty="0"/>
          </a:p>
        </p:txBody>
      </p:sp>
    </p:spTree>
    <p:extLst>
      <p:ext uri="{BB962C8B-B14F-4D97-AF65-F5344CB8AC3E}">
        <p14:creationId xmlns:p14="http://schemas.microsoft.com/office/powerpoint/2010/main" val="103458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7D9B3-B64F-656A-0D99-161A6C0F518F}"/>
              </a:ext>
            </a:extLst>
          </p:cNvPr>
          <p:cNvSpPr>
            <a:spLocks noGrp="1"/>
          </p:cNvSpPr>
          <p:nvPr>
            <p:ph type="title"/>
          </p:nvPr>
        </p:nvSpPr>
        <p:spPr>
          <a:xfrm>
            <a:off x="1119346" y="501652"/>
            <a:ext cx="9953308" cy="444186"/>
          </a:xfrm>
        </p:spPr>
        <p:txBody>
          <a:bodyPr>
            <a:normAutofit fontScale="90000"/>
          </a:bodyPr>
          <a:lstStyle/>
          <a:p>
            <a:r>
              <a:rPr lang="en-IN" dirty="0"/>
              <a:t>Research Papers and References</a:t>
            </a:r>
            <a:endParaRPr lang="en-US" dirty="0"/>
          </a:p>
        </p:txBody>
      </p:sp>
      <p:sp>
        <p:nvSpPr>
          <p:cNvPr id="68" name="Slide Number Placeholder 67">
            <a:extLst>
              <a:ext uri="{FF2B5EF4-FFF2-40B4-BE49-F238E27FC236}">
                <a16:creationId xmlns:a16="http://schemas.microsoft.com/office/drawing/2014/main" id="{AA0ACADD-CC4E-851C-DA07-C22DB97FA23E}"/>
              </a:ext>
            </a:extLst>
          </p:cNvPr>
          <p:cNvSpPr>
            <a:spLocks noGrp="1"/>
          </p:cNvSpPr>
          <p:nvPr>
            <p:ph type="sldNum" sz="quarter" idx="13"/>
          </p:nvPr>
        </p:nvSpPr>
        <p:spPr>
          <a:xfrm>
            <a:off x="10373350" y="6356349"/>
            <a:ext cx="987552" cy="365125"/>
          </a:xfrm>
        </p:spPr>
        <p:txBody>
          <a:bodyPr/>
          <a:lstStyle/>
          <a:p>
            <a:fld id="{A49DFD55-3C28-40EF-9E31-A92D2E4017FF}" type="slidenum">
              <a:rPr lang="en-US" smtClean="0"/>
              <a:pPr/>
              <a:t>13</a:t>
            </a:fld>
            <a:endParaRPr lang="en-US" dirty="0"/>
          </a:p>
        </p:txBody>
      </p:sp>
      <p:sp>
        <p:nvSpPr>
          <p:cNvPr id="9" name="Rectangle 1">
            <a:extLst>
              <a:ext uri="{FF2B5EF4-FFF2-40B4-BE49-F238E27FC236}">
                <a16:creationId xmlns:a16="http://schemas.microsoft.com/office/drawing/2014/main" id="{5FE790B7-4958-C78B-2D0B-AA4519ADBF73}"/>
              </a:ext>
            </a:extLst>
          </p:cNvPr>
          <p:cNvSpPr>
            <a:spLocks noGrp="1" noChangeArrowheads="1"/>
          </p:cNvSpPr>
          <p:nvPr>
            <p:ph type="body" idx="1"/>
          </p:nvPr>
        </p:nvSpPr>
        <p:spPr bwMode="auto">
          <a:xfrm>
            <a:off x="587375" y="1265026"/>
            <a:ext cx="1069974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b="0" i="0" u="none" strike="noStrike" cap="none" normalizeH="0" baseline="0" dirty="0">
                <a:ln>
                  <a:noFill/>
                </a:ln>
                <a:solidFill>
                  <a:schemeClr val="tx1"/>
                </a:solidFill>
                <a:effectLst/>
                <a:latin typeface="Arial" panose="020B0604020202020204" pitchFamily="34" charset="0"/>
              </a:rPr>
              <a:t>Deepfake video detection: challenges and opportunities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b="0" i="0" u="none" strike="noStrike" cap="none" normalizeH="0" baseline="0" dirty="0" err="1">
                <a:ln>
                  <a:noFill/>
                </a:ln>
                <a:solidFill>
                  <a:schemeClr val="tx1"/>
                </a:solidFill>
                <a:effectLst/>
                <a:latin typeface="Arial" panose="020B0604020202020204" pitchFamily="34" charset="0"/>
              </a:rPr>
              <a:t>DeepfakeBench</a:t>
            </a:r>
            <a:r>
              <a:rPr kumimoji="0" lang="en-US" altLang="en-US" b="0" i="0" u="none" strike="noStrike" cap="none" normalizeH="0" baseline="0" dirty="0">
                <a:ln>
                  <a:noFill/>
                </a:ln>
                <a:solidFill>
                  <a:schemeClr val="tx1"/>
                </a:solidFill>
                <a:effectLst/>
                <a:latin typeface="Arial" panose="020B0604020202020204" pitchFamily="34" charset="0"/>
              </a:rPr>
              <a:t>: A Comprehensive Benchmark of Deepfake Detection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b="0" i="0" u="none" strike="noStrike" cap="none" normalizeH="0" baseline="0" dirty="0">
                <a:ln>
                  <a:noFill/>
                </a:ln>
                <a:solidFill>
                  <a:schemeClr val="tx1"/>
                </a:solidFill>
                <a:effectLst/>
                <a:latin typeface="Arial" panose="020B0604020202020204" pitchFamily="34" charset="0"/>
              </a:rPr>
              <a:t>Deepfake Detection: A Systematic Literature Review</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b="0" i="0" u="none" strike="noStrike" cap="none" normalizeH="0" baseline="0" dirty="0">
                <a:ln>
                  <a:noFill/>
                </a:ln>
                <a:solidFill>
                  <a:schemeClr val="tx1"/>
                </a:solidFill>
                <a:effectLst/>
                <a:latin typeface="Arial" panose="020B0604020202020204" pitchFamily="34" charset="0"/>
              </a:rPr>
              <a:t>DF40: Toward Next-Generation Deepfake Detection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b="0" i="0" u="none" strike="noStrike" cap="none" normalizeH="0" baseline="0" dirty="0">
                <a:ln>
                  <a:noFill/>
                </a:ln>
                <a:solidFill>
                  <a:schemeClr val="tx1"/>
                </a:solidFill>
                <a:effectLst/>
                <a:latin typeface="Arial" panose="020B0604020202020204" pitchFamily="34" charset="0"/>
              </a:rPr>
              <a:t>Deepfake Detection Using Deep Learning Methods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b="0" i="0" u="none" strike="noStrike" cap="none" normalizeH="0" baseline="0" dirty="0">
                <a:ln>
                  <a:noFill/>
                </a:ln>
                <a:solidFill>
                  <a:schemeClr val="tx1"/>
                </a:solidFill>
                <a:effectLst/>
                <a:latin typeface="Arial" panose="020B0604020202020204" pitchFamily="34" charset="0"/>
              </a:rPr>
              <a:t>Multi-Attentional Deepfake Detection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b="0" i="0" u="none" strike="noStrike" cap="none" normalizeH="0" baseline="0" dirty="0">
                <a:ln>
                  <a:noFill/>
                </a:ln>
                <a:solidFill>
                  <a:schemeClr val="tx1"/>
                </a:solidFill>
                <a:effectLst/>
                <a:latin typeface="Arial" panose="020B0604020202020204" pitchFamily="34" charset="0"/>
              </a:rPr>
              <a:t>Deepfake Detection Using the Rate of Change between Frames Based on Computer Vision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b="0" i="0" u="none" strike="noStrike" cap="none" normalizeH="0" baseline="0" dirty="0">
                <a:ln>
                  <a:noFill/>
                </a:ln>
                <a:solidFill>
                  <a:schemeClr val="tx1"/>
                </a:solidFill>
                <a:effectLst/>
                <a:latin typeface="Arial" panose="020B0604020202020204" pitchFamily="34" charset="0"/>
              </a:rPr>
              <a:t>Hybrid </a:t>
            </a:r>
            <a:r>
              <a:rPr kumimoji="0" lang="en-US" altLang="en-US" b="0" i="0" u="none" strike="noStrike" cap="none" normalizeH="0" baseline="0" dirty="0" err="1">
                <a:ln>
                  <a:noFill/>
                </a:ln>
                <a:solidFill>
                  <a:schemeClr val="tx1"/>
                </a:solidFill>
                <a:effectLst/>
                <a:latin typeface="Arial" panose="020B0604020202020204" pitchFamily="34" charset="0"/>
              </a:rPr>
              <a:t>ResNeXt</a:t>
            </a:r>
            <a:r>
              <a:rPr kumimoji="0" lang="en-US" altLang="en-US" b="0" i="0" u="none" strike="noStrike" cap="none" normalizeH="0" baseline="0" dirty="0">
                <a:ln>
                  <a:noFill/>
                </a:ln>
                <a:solidFill>
                  <a:schemeClr val="tx1"/>
                </a:solidFill>
                <a:effectLst/>
                <a:latin typeface="Arial" panose="020B0604020202020204" pitchFamily="34" charset="0"/>
              </a:rPr>
              <a:t> and LSTM Model for Enhanced Deepfake Detection on the </a:t>
            </a:r>
            <a:r>
              <a:rPr kumimoji="0" lang="en-US" altLang="en-US" b="0" i="0" u="none" strike="noStrike" cap="none" normalizeH="0" baseline="0" dirty="0" err="1">
                <a:ln>
                  <a:noFill/>
                </a:ln>
                <a:solidFill>
                  <a:schemeClr val="tx1"/>
                </a:solidFill>
                <a:effectLst/>
                <a:latin typeface="Arial" panose="020B0604020202020204" pitchFamily="34" charset="0"/>
              </a:rPr>
              <a:t>FaceForensics</a:t>
            </a:r>
            <a:r>
              <a:rPr kumimoji="0" lang="en-US" altLang="en-US" b="0" i="0" u="none" strike="noStrike" cap="none" normalizeH="0" baseline="0" dirty="0">
                <a:ln>
                  <a:noFill/>
                </a:ln>
                <a:solidFill>
                  <a:schemeClr val="tx1"/>
                </a:solidFill>
                <a:effectLst/>
                <a:latin typeface="Arial" panose="020B0604020202020204" pitchFamily="34" charset="0"/>
              </a:rPr>
              <a:t>++ Dataset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36929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F1EDE-5423-435C-B149-87AB1BC22B83}"/>
              </a:ext>
            </a:extLst>
          </p:cNvPr>
          <p:cNvSpPr>
            <a:spLocks noGrp="1"/>
          </p:cNvSpPr>
          <p:nvPr>
            <p:ph type="ctrTitle"/>
          </p:nvPr>
        </p:nvSpPr>
        <p:spPr>
          <a:xfrm>
            <a:off x="4381500" y="3114675"/>
            <a:ext cx="3429000" cy="628650"/>
          </a:xfrm>
        </p:spPr>
        <p:txBody>
          <a:bodyPr/>
          <a:lstStyle/>
          <a:p>
            <a:r>
              <a:rPr lang="en-US" dirty="0"/>
              <a:t>THANK YOU</a:t>
            </a:r>
          </a:p>
        </p:txBody>
      </p:sp>
      <p:sp>
        <p:nvSpPr>
          <p:cNvPr id="6" name="Slide Number Placeholder 5">
            <a:extLst>
              <a:ext uri="{FF2B5EF4-FFF2-40B4-BE49-F238E27FC236}">
                <a16:creationId xmlns:a16="http://schemas.microsoft.com/office/drawing/2014/main" id="{4C127D99-645F-4FCF-9573-FDFE2A344FA9}"/>
              </a:ext>
            </a:extLst>
          </p:cNvPr>
          <p:cNvSpPr>
            <a:spLocks noGrp="1"/>
          </p:cNvSpPr>
          <p:nvPr>
            <p:ph type="sldNum" sz="quarter" idx="12"/>
          </p:nvPr>
        </p:nvSpPr>
        <p:spPr>
          <a:xfrm>
            <a:off x="9579428" y="6356350"/>
            <a:ext cx="1774371" cy="365125"/>
          </a:xfrm>
        </p:spPr>
        <p:txBody>
          <a:bodyPr/>
          <a:lstStyle/>
          <a:p>
            <a:fld id="{A49DFD55-3C28-40EF-9E31-A92D2E4017FF}" type="slidenum">
              <a:rPr lang="en-US" smtClean="0"/>
              <a:pPr/>
              <a:t>14</a:t>
            </a:fld>
            <a:endParaRPr lang="en-US" dirty="0"/>
          </a:p>
        </p:txBody>
      </p:sp>
    </p:spTree>
    <p:extLst>
      <p:ext uri="{BB962C8B-B14F-4D97-AF65-F5344CB8AC3E}">
        <p14:creationId xmlns:p14="http://schemas.microsoft.com/office/powerpoint/2010/main" val="1969787568"/>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 id="{F85C13B5-8B75-4CB8-BA5E-9CAC0747196D}" vid="{617487EE-AB70-4C55-8A81-E6744CC4A2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EDE3176-A15D-46A3-BDDB-64A0D73632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9168DCE-134F-4610-A6AA-88CEBE8D71D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CABF691C-888B-4061-8A6F-D5CE84A0254B}">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presentation</Template>
  <TotalTime>1279</TotalTime>
  <Words>1563</Words>
  <Application>Microsoft Office PowerPoint</Application>
  <PresentationFormat>Widescreen</PresentationFormat>
  <Paragraphs>190</Paragraphs>
  <Slides>14</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Tenorite</vt:lpstr>
      <vt:lpstr>Wingdings</vt:lpstr>
      <vt:lpstr>Custom</vt:lpstr>
      <vt:lpstr>dEepfake detection </vt:lpstr>
      <vt:lpstr>AGENDA</vt:lpstr>
      <vt:lpstr>LITERATURE REVIEW</vt:lpstr>
      <vt:lpstr>PowerPoint Presentation</vt:lpstr>
      <vt:lpstr>PowerPoint Presentation</vt:lpstr>
      <vt:lpstr>PowerPoint Presentation</vt:lpstr>
      <vt:lpstr>PowerPoint Presentation</vt:lpstr>
      <vt:lpstr>PowerPoint Presentation</vt:lpstr>
      <vt:lpstr>Feasibility Analysis </vt:lpstr>
      <vt:lpstr>STIMULATION STUDY</vt:lpstr>
      <vt:lpstr>PowerPoint Presentation</vt:lpstr>
      <vt:lpstr>Future Development</vt:lpstr>
      <vt:lpstr>Research Papers and 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Dyutimay Ghosh</dc:creator>
  <cp:lastModifiedBy>Dyutimay Ghosh</cp:lastModifiedBy>
  <cp:revision>3</cp:revision>
  <dcterms:created xsi:type="dcterms:W3CDTF">2026-05-10T08:04:37Z</dcterms:created>
  <dcterms:modified xsi:type="dcterms:W3CDTF">2026-05-11T05:23:57Z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